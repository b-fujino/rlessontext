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74" r:id="rId2"/>
    <p:sldId id="264" r:id="rId3"/>
    <p:sldId id="265" r:id="rId4"/>
    <p:sldId id="277" r:id="rId5"/>
    <p:sldId id="278" r:id="rId6"/>
    <p:sldId id="275" r:id="rId7"/>
    <p:sldId id="276" r:id="rId8"/>
    <p:sldId id="256" r:id="rId9"/>
    <p:sldId id="258" r:id="rId10"/>
    <p:sldId id="257" r:id="rId11"/>
    <p:sldId id="259" r:id="rId12"/>
    <p:sldId id="260" r:id="rId13"/>
    <p:sldId id="261" r:id="rId14"/>
    <p:sldId id="262" r:id="rId15"/>
    <p:sldId id="263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  <a:srgbClr val="FFCC99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DD6638-3801-45C7-8D56-AEB56380CEA0}" v="64" dt="2024-05-30T09:23:46.7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970" autoAdjust="0"/>
  </p:normalViewPr>
  <p:slideViewPr>
    <p:cSldViewPr snapToGrid="0" showGuides="1">
      <p:cViewPr>
        <p:scale>
          <a:sx n="50" d="100"/>
          <a:sy n="50" d="100"/>
        </p:scale>
        <p:origin x="2796" y="36"/>
      </p:cViewPr>
      <p:guideLst>
        <p:guide orient="horz" pos="2137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秀則 藤野" userId="6175745cdd4ef94f" providerId="LiveId" clId="{ADDD6638-3801-45C7-8D56-AEB56380CEA0}"/>
    <pc:docChg chg="custSel addSld modSld">
      <pc:chgData name="秀則 藤野" userId="6175745cdd4ef94f" providerId="LiveId" clId="{ADDD6638-3801-45C7-8D56-AEB56380CEA0}" dt="2024-05-30T09:24:09.258" v="354" actId="13822"/>
      <pc:docMkLst>
        <pc:docMk/>
      </pc:docMkLst>
      <pc:sldChg chg="addSp delSp modSp new mod">
        <pc:chgData name="秀則 藤野" userId="6175745cdd4ef94f" providerId="LiveId" clId="{ADDD6638-3801-45C7-8D56-AEB56380CEA0}" dt="2024-05-30T09:15:06.334" v="66"/>
        <pc:sldMkLst>
          <pc:docMk/>
          <pc:sldMk cId="915393727" sldId="256"/>
        </pc:sldMkLst>
        <pc:spChg chg="del">
          <ac:chgData name="秀則 藤野" userId="6175745cdd4ef94f" providerId="LiveId" clId="{ADDD6638-3801-45C7-8D56-AEB56380CEA0}" dt="2024-05-30T09:13:33.517" v="1" actId="478"/>
          <ac:spMkLst>
            <pc:docMk/>
            <pc:sldMk cId="915393727" sldId="256"/>
            <ac:spMk id="2" creationId="{475C358E-F825-5F1E-5889-6DD3C50B8B10}"/>
          </ac:spMkLst>
        </pc:spChg>
        <pc:spChg chg="del">
          <ac:chgData name="秀則 藤野" userId="6175745cdd4ef94f" providerId="LiveId" clId="{ADDD6638-3801-45C7-8D56-AEB56380CEA0}" dt="2024-05-30T09:13:33.517" v="1" actId="478"/>
          <ac:spMkLst>
            <pc:docMk/>
            <pc:sldMk cId="915393727" sldId="256"/>
            <ac:spMk id="3" creationId="{63BFBE2D-A054-B188-90A2-C0024244C199}"/>
          </ac:spMkLst>
        </pc:spChg>
        <pc:spChg chg="add mod">
          <ac:chgData name="秀則 藤野" userId="6175745cdd4ef94f" providerId="LiveId" clId="{ADDD6638-3801-45C7-8D56-AEB56380CEA0}" dt="2024-05-30T09:14:56.447" v="59" actId="13822"/>
          <ac:spMkLst>
            <pc:docMk/>
            <pc:sldMk cId="915393727" sldId="256"/>
            <ac:spMk id="4" creationId="{5F211BAF-CFA8-A57F-531F-9465E70D3EB7}"/>
          </ac:spMkLst>
        </pc:spChg>
        <pc:spChg chg="add mod">
          <ac:chgData name="秀則 藤野" userId="6175745cdd4ef94f" providerId="LiveId" clId="{ADDD6638-3801-45C7-8D56-AEB56380CEA0}" dt="2024-05-30T09:14:56.447" v="59" actId="13822"/>
          <ac:spMkLst>
            <pc:docMk/>
            <pc:sldMk cId="915393727" sldId="256"/>
            <ac:spMk id="5" creationId="{ACCC4F8D-BEC8-2D72-9D40-187D5ABBFD81}"/>
          </ac:spMkLst>
        </pc:spChg>
        <pc:spChg chg="add mod">
          <ac:chgData name="秀則 藤野" userId="6175745cdd4ef94f" providerId="LiveId" clId="{ADDD6638-3801-45C7-8D56-AEB56380CEA0}" dt="2024-05-30T09:14:56.447" v="59" actId="13822"/>
          <ac:spMkLst>
            <pc:docMk/>
            <pc:sldMk cId="915393727" sldId="256"/>
            <ac:spMk id="6" creationId="{5445C0A7-1E9B-E033-BA6B-0026613A0766}"/>
          </ac:spMkLst>
        </pc:spChg>
        <pc:spChg chg="add mod">
          <ac:chgData name="秀則 藤野" userId="6175745cdd4ef94f" providerId="LiveId" clId="{ADDD6638-3801-45C7-8D56-AEB56380CEA0}" dt="2024-05-30T09:15:06.334" v="66"/>
          <ac:spMkLst>
            <pc:docMk/>
            <pc:sldMk cId="915393727" sldId="256"/>
            <ac:spMk id="11" creationId="{C1D3C3E0-669A-04AB-4AB9-13D009AAD67B}"/>
          </ac:spMkLst>
        </pc:spChg>
        <pc:cxnChg chg="add mod">
          <ac:chgData name="秀則 藤野" userId="6175745cdd4ef94f" providerId="LiveId" clId="{ADDD6638-3801-45C7-8D56-AEB56380CEA0}" dt="2024-05-30T09:14:56.447" v="59" actId="13822"/>
          <ac:cxnSpMkLst>
            <pc:docMk/>
            <pc:sldMk cId="915393727" sldId="256"/>
            <ac:cxnSpMk id="8" creationId="{C705B9C7-DF8B-E6FE-5B90-C5A22C18ED49}"/>
          </ac:cxnSpMkLst>
        </pc:cxnChg>
        <pc:cxnChg chg="add mod">
          <ac:chgData name="秀則 藤野" userId="6175745cdd4ef94f" providerId="LiveId" clId="{ADDD6638-3801-45C7-8D56-AEB56380CEA0}" dt="2024-05-30T09:14:56.447" v="59" actId="13822"/>
          <ac:cxnSpMkLst>
            <pc:docMk/>
            <pc:sldMk cId="915393727" sldId="256"/>
            <ac:cxnSpMk id="10" creationId="{7CB57F55-87DC-029B-EA1F-90F9C02A4177}"/>
          </ac:cxnSpMkLst>
        </pc:cxnChg>
      </pc:sldChg>
      <pc:sldChg chg="addSp delSp modSp new mod">
        <pc:chgData name="秀則 藤野" userId="6175745cdd4ef94f" providerId="LiveId" clId="{ADDD6638-3801-45C7-8D56-AEB56380CEA0}" dt="2024-05-30T09:24:09.258" v="354" actId="13822"/>
        <pc:sldMkLst>
          <pc:docMk/>
          <pc:sldMk cId="1241106311" sldId="257"/>
        </pc:sldMkLst>
        <pc:spChg chg="del">
          <ac:chgData name="秀則 藤野" userId="6175745cdd4ef94f" providerId="LiveId" clId="{ADDD6638-3801-45C7-8D56-AEB56380CEA0}" dt="2024-05-30T09:22:12.964" v="223" actId="478"/>
          <ac:spMkLst>
            <pc:docMk/>
            <pc:sldMk cId="1241106311" sldId="257"/>
            <ac:spMk id="2" creationId="{24A2D263-1A08-0ADA-0FBC-E98CACB32DC2}"/>
          </ac:spMkLst>
        </pc:spChg>
        <pc:spChg chg="del">
          <ac:chgData name="秀則 藤野" userId="6175745cdd4ef94f" providerId="LiveId" clId="{ADDD6638-3801-45C7-8D56-AEB56380CEA0}" dt="2024-05-30T09:22:12.964" v="223" actId="478"/>
          <ac:spMkLst>
            <pc:docMk/>
            <pc:sldMk cId="1241106311" sldId="257"/>
            <ac:spMk id="3" creationId="{D5CD855A-EBED-6F52-1C9D-315DBC2EBFEF}"/>
          </ac:spMkLst>
        </pc:spChg>
        <pc:spChg chg="add mod">
          <ac:chgData name="秀則 藤野" userId="6175745cdd4ef94f" providerId="LiveId" clId="{ADDD6638-3801-45C7-8D56-AEB56380CEA0}" dt="2024-05-30T09:23:54.482" v="353" actId="1076"/>
          <ac:spMkLst>
            <pc:docMk/>
            <pc:sldMk cId="1241106311" sldId="257"/>
            <ac:spMk id="4" creationId="{D1E12261-89B1-F2A3-34A0-BBE7B31A48CA}"/>
          </ac:spMkLst>
        </pc:spChg>
        <pc:spChg chg="add mod">
          <ac:chgData name="秀則 藤野" userId="6175745cdd4ef94f" providerId="LiveId" clId="{ADDD6638-3801-45C7-8D56-AEB56380CEA0}" dt="2024-05-30T09:23:15.079" v="294"/>
          <ac:spMkLst>
            <pc:docMk/>
            <pc:sldMk cId="1241106311" sldId="257"/>
            <ac:spMk id="5" creationId="{AC2650BC-2D2B-5AF3-86DA-8F1504AF3245}"/>
          </ac:spMkLst>
        </pc:spChg>
        <pc:spChg chg="add mod">
          <ac:chgData name="秀則 藤野" userId="6175745cdd4ef94f" providerId="LiveId" clId="{ADDD6638-3801-45C7-8D56-AEB56380CEA0}" dt="2024-05-30T09:24:09.258" v="354" actId="13822"/>
          <ac:spMkLst>
            <pc:docMk/>
            <pc:sldMk cId="1241106311" sldId="257"/>
            <ac:spMk id="9" creationId="{CBC8A939-E168-8640-4151-6E3418F38040}"/>
          </ac:spMkLst>
        </pc:spChg>
        <pc:cxnChg chg="add mod">
          <ac:chgData name="秀則 藤野" userId="6175745cdd4ef94f" providerId="LiveId" clId="{ADDD6638-3801-45C7-8D56-AEB56380CEA0}" dt="2024-05-30T09:23:54.482" v="353" actId="1076"/>
          <ac:cxnSpMkLst>
            <pc:docMk/>
            <pc:sldMk cId="1241106311" sldId="257"/>
            <ac:cxnSpMk id="6" creationId="{78716ED2-DF3B-D92E-7BD8-3AA09D91A477}"/>
          </ac:cxnSpMkLst>
        </pc:cxnChg>
        <pc:cxnChg chg="add mod">
          <ac:chgData name="秀則 藤野" userId="6175745cdd4ef94f" providerId="LiveId" clId="{ADDD6638-3801-45C7-8D56-AEB56380CEA0}" dt="2024-05-30T09:23:54.482" v="353" actId="1076"/>
          <ac:cxnSpMkLst>
            <pc:docMk/>
            <pc:sldMk cId="1241106311" sldId="257"/>
            <ac:cxnSpMk id="10" creationId="{3692A9EC-9D53-BBF8-6010-1B3560DD9FC6}"/>
          </ac:cxnSpMkLst>
        </pc:cxnChg>
      </pc:sldChg>
      <pc:sldChg chg="delSp modSp add mod">
        <pc:chgData name="秀則 藤野" userId="6175745cdd4ef94f" providerId="LiveId" clId="{ADDD6638-3801-45C7-8D56-AEB56380CEA0}" dt="2024-05-30T09:19:35.127" v="222" actId="14100"/>
        <pc:sldMkLst>
          <pc:docMk/>
          <pc:sldMk cId="780364332" sldId="258"/>
        </pc:sldMkLst>
        <pc:spChg chg="mod">
          <ac:chgData name="秀則 藤野" userId="6175745cdd4ef94f" providerId="LiveId" clId="{ADDD6638-3801-45C7-8D56-AEB56380CEA0}" dt="2024-05-30T09:18:47.918" v="160" actId="14100"/>
          <ac:spMkLst>
            <pc:docMk/>
            <pc:sldMk cId="780364332" sldId="258"/>
            <ac:spMk id="4" creationId="{5F211BAF-CFA8-A57F-531F-9465E70D3EB7}"/>
          </ac:spMkLst>
        </pc:spChg>
        <pc:spChg chg="mod">
          <ac:chgData name="秀則 藤野" userId="6175745cdd4ef94f" providerId="LiveId" clId="{ADDD6638-3801-45C7-8D56-AEB56380CEA0}" dt="2024-05-30T09:19:35.127" v="222" actId="14100"/>
          <ac:spMkLst>
            <pc:docMk/>
            <pc:sldMk cId="780364332" sldId="258"/>
            <ac:spMk id="5" creationId="{ACCC4F8D-BEC8-2D72-9D40-187D5ABBFD81}"/>
          </ac:spMkLst>
        </pc:spChg>
        <pc:spChg chg="del">
          <ac:chgData name="秀則 藤野" userId="6175745cdd4ef94f" providerId="LiveId" clId="{ADDD6638-3801-45C7-8D56-AEB56380CEA0}" dt="2024-05-30T09:17:44.070" v="69" actId="478"/>
          <ac:spMkLst>
            <pc:docMk/>
            <pc:sldMk cId="780364332" sldId="258"/>
            <ac:spMk id="6" creationId="{5445C0A7-1E9B-E033-BA6B-0026613A0766}"/>
          </ac:spMkLst>
        </pc:spChg>
        <pc:spChg chg="del">
          <ac:chgData name="秀則 藤野" userId="6175745cdd4ef94f" providerId="LiveId" clId="{ADDD6638-3801-45C7-8D56-AEB56380CEA0}" dt="2024-05-30T09:17:44.070" v="69" actId="478"/>
          <ac:spMkLst>
            <pc:docMk/>
            <pc:sldMk cId="780364332" sldId="258"/>
            <ac:spMk id="11" creationId="{C1D3C3E0-669A-04AB-4AB9-13D009AAD67B}"/>
          </ac:spMkLst>
        </pc:spChg>
        <pc:cxnChg chg="mod">
          <ac:chgData name="秀則 藤野" userId="6175745cdd4ef94f" providerId="LiveId" clId="{ADDD6638-3801-45C7-8D56-AEB56380CEA0}" dt="2024-05-30T09:19:35.127" v="222" actId="14100"/>
          <ac:cxnSpMkLst>
            <pc:docMk/>
            <pc:sldMk cId="780364332" sldId="258"/>
            <ac:cxnSpMk id="8" creationId="{C705B9C7-DF8B-E6FE-5B90-C5A22C18ED49}"/>
          </ac:cxnSpMkLst>
        </pc:cxnChg>
        <pc:cxnChg chg="del mod">
          <ac:chgData name="秀則 藤野" userId="6175745cdd4ef94f" providerId="LiveId" clId="{ADDD6638-3801-45C7-8D56-AEB56380CEA0}" dt="2024-05-30T09:17:45.801" v="70" actId="478"/>
          <ac:cxnSpMkLst>
            <pc:docMk/>
            <pc:sldMk cId="780364332" sldId="258"/>
            <ac:cxnSpMk id="10" creationId="{7CB57F55-87DC-029B-EA1F-90F9C02A417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03653-7382-4EF5-850F-AEDF0B3BD356}" type="datetimeFigureOut">
              <a:rPr kumimoji="1" lang="ja-JP" altLang="en-US" smtClean="0"/>
              <a:t>2025/1/7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012953-8B50-4F21-94CF-FFD5111548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0776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012953-8B50-4F21-94CF-FFD51115489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7822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0441-CB21-445C-817D-199401EC5197}" type="datetimeFigureOut">
              <a:rPr kumimoji="1" lang="ja-JP" altLang="en-US" smtClean="0"/>
              <a:t>2025/1/7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4932-9EDE-437C-A354-4A9F0C6527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3452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0441-CB21-445C-817D-199401EC5197}" type="datetimeFigureOut">
              <a:rPr kumimoji="1" lang="ja-JP" altLang="en-US" smtClean="0"/>
              <a:t>2025/1/7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4932-9EDE-437C-A354-4A9F0C6527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1431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0441-CB21-445C-817D-199401EC5197}" type="datetimeFigureOut">
              <a:rPr kumimoji="1" lang="ja-JP" altLang="en-US" smtClean="0"/>
              <a:t>2025/1/7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4932-9EDE-437C-A354-4A9F0C6527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6607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0441-CB21-445C-817D-199401EC5197}" type="datetimeFigureOut">
              <a:rPr kumimoji="1" lang="ja-JP" altLang="en-US" smtClean="0"/>
              <a:t>2025/1/7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4932-9EDE-437C-A354-4A9F0C6527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7556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0441-CB21-445C-817D-199401EC5197}" type="datetimeFigureOut">
              <a:rPr kumimoji="1" lang="ja-JP" altLang="en-US" smtClean="0"/>
              <a:t>2025/1/7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4932-9EDE-437C-A354-4A9F0C65272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574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0441-CB21-445C-817D-199401EC5197}" type="datetimeFigureOut">
              <a:rPr kumimoji="1" lang="ja-JP" altLang="en-US" smtClean="0"/>
              <a:t>2025/1/7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4932-9EDE-437C-A354-4A9F0C65272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72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0441-CB21-445C-817D-199401EC5197}" type="datetimeFigureOut">
              <a:rPr kumimoji="1" lang="ja-JP" altLang="en-US" smtClean="0"/>
              <a:t>2025/1/7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4932-9EDE-437C-A354-4A9F0C6527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6708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0441-CB21-445C-817D-199401EC5197}" type="datetimeFigureOut">
              <a:rPr kumimoji="1" lang="ja-JP" altLang="en-US" smtClean="0"/>
              <a:t>2025/1/7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4932-9EDE-437C-A354-4A9F0C6527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825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0441-CB21-445C-817D-199401EC5197}" type="datetimeFigureOut">
              <a:rPr kumimoji="1" lang="ja-JP" altLang="en-US" smtClean="0"/>
              <a:t>2025/1/7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4932-9EDE-437C-A354-4A9F0C6527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2108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0441-CB21-445C-817D-199401EC5197}" type="datetimeFigureOut">
              <a:rPr kumimoji="1" lang="ja-JP" altLang="en-US" smtClean="0"/>
              <a:t>2025/1/7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4932-9EDE-437C-A354-4A9F0C6527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9016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0441-CB21-445C-817D-199401EC5197}" type="datetimeFigureOut">
              <a:rPr kumimoji="1" lang="ja-JP" altLang="en-US" smtClean="0"/>
              <a:t>2025/1/7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4932-9EDE-437C-A354-4A9F0C6527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9684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3020441-CB21-445C-817D-199401EC5197}" type="datetimeFigureOut">
              <a:rPr kumimoji="1" lang="ja-JP" altLang="en-US" smtClean="0"/>
              <a:t>2025/1/7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0C4932-9EDE-437C-A354-4A9F0C6527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7406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正方形/長方形 68"/>
          <p:cNvSpPr/>
          <p:nvPr/>
        </p:nvSpPr>
        <p:spPr>
          <a:xfrm>
            <a:off x="3578225" y="2370223"/>
            <a:ext cx="442914" cy="440626"/>
          </a:xfrm>
          <a:prstGeom prst="rect">
            <a:avLst/>
          </a:prstGeom>
          <a:pattFill prst="ltDnDiag">
            <a:fgClr>
              <a:schemeClr val="accent2"/>
            </a:fgClr>
            <a:bgClr>
              <a:schemeClr val="bg1"/>
            </a:bgClr>
          </a:pattFill>
          <a:ln w="952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正方形/長方形 67"/>
          <p:cNvSpPr/>
          <p:nvPr/>
        </p:nvSpPr>
        <p:spPr>
          <a:xfrm>
            <a:off x="2663531" y="534786"/>
            <a:ext cx="486209" cy="440626"/>
          </a:xfrm>
          <a:prstGeom prst="rect">
            <a:avLst/>
          </a:prstGeom>
          <a:pattFill prst="ltDnDiag">
            <a:fgClr>
              <a:schemeClr val="accent2"/>
            </a:fgClr>
            <a:bgClr>
              <a:schemeClr val="bg1"/>
            </a:bgClr>
          </a:pattFill>
          <a:ln w="952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/>
          <p:cNvSpPr/>
          <p:nvPr/>
        </p:nvSpPr>
        <p:spPr>
          <a:xfrm>
            <a:off x="498763" y="3429000"/>
            <a:ext cx="4849091" cy="2909454"/>
          </a:xfrm>
          <a:prstGeom prst="ellipse">
            <a:avLst/>
          </a:prstGeom>
          <a:solidFill>
            <a:srgbClr val="FFCC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母集団</a:t>
            </a:r>
          </a:p>
        </p:txBody>
      </p:sp>
      <p:sp>
        <p:nvSpPr>
          <p:cNvPr id="5" name="楕円 4"/>
          <p:cNvSpPr/>
          <p:nvPr/>
        </p:nvSpPr>
        <p:spPr>
          <a:xfrm>
            <a:off x="7721601" y="4444999"/>
            <a:ext cx="2780144" cy="1556328"/>
          </a:xfrm>
          <a:prstGeom prst="ellipse">
            <a:avLst/>
          </a:prstGeom>
          <a:solidFill>
            <a:srgbClr val="FF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サンプル集団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（サンプル数＝</a:t>
            </a:r>
            <a:r>
              <a:rPr kumimoji="1" lang="en-US" altLang="ja-JP" dirty="0">
                <a:solidFill>
                  <a:schemeClr val="tx1"/>
                </a:solidFill>
              </a:rPr>
              <a:t>N</a:t>
            </a:r>
            <a:r>
              <a:rPr kumimoji="1" lang="ja-JP" altLang="en-US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6" name="楕円 5"/>
          <p:cNvSpPr/>
          <p:nvPr/>
        </p:nvSpPr>
        <p:spPr>
          <a:xfrm flipH="1" flipV="1">
            <a:off x="3629891" y="4370758"/>
            <a:ext cx="249378" cy="148482"/>
          </a:xfrm>
          <a:prstGeom prst="ellipse">
            <a:avLst/>
          </a:prstGeom>
          <a:solidFill>
            <a:srgbClr val="FF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8" name="直線コネクタ 7"/>
          <p:cNvCxnSpPr>
            <a:stCxn id="6" idx="4"/>
            <a:endCxn id="5" idx="0"/>
          </p:cNvCxnSpPr>
          <p:nvPr/>
        </p:nvCxnSpPr>
        <p:spPr>
          <a:xfrm>
            <a:off x="3754580" y="4370758"/>
            <a:ext cx="5357093" cy="7424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/>
          <p:cNvCxnSpPr>
            <a:stCxn id="6" idx="7"/>
          </p:cNvCxnSpPr>
          <p:nvPr/>
        </p:nvCxnSpPr>
        <p:spPr>
          <a:xfrm>
            <a:off x="3666412" y="4497495"/>
            <a:ext cx="4812570" cy="141608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図 10"/>
          <p:cNvPicPr>
            <a:picLocks noChangeAspect="1"/>
          </p:cNvPicPr>
          <p:nvPr/>
        </p:nvPicPr>
        <p:blipFill rotWithShape="1"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0" t="8071" b="8546"/>
          <a:stretch/>
        </p:blipFill>
        <p:spPr>
          <a:xfrm>
            <a:off x="7753350" y="2747963"/>
            <a:ext cx="2748395" cy="1438276"/>
          </a:xfrm>
          <a:prstGeom prst="rect">
            <a:avLst/>
          </a:prstGeom>
        </p:spPr>
      </p:pic>
      <p:cxnSp>
        <p:nvCxnSpPr>
          <p:cNvPr id="14" name="直線矢印コネクタ 13"/>
          <p:cNvCxnSpPr>
            <a:stCxn id="11" idx="2"/>
          </p:cNvCxnSpPr>
          <p:nvPr/>
        </p:nvCxnSpPr>
        <p:spPr>
          <a:xfrm flipH="1" flipV="1">
            <a:off x="9111673" y="2549236"/>
            <a:ext cx="15875" cy="1637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8462529" y="2152073"/>
            <a:ext cx="1330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標本平均</a:t>
            </a:r>
          </a:p>
        </p:txBody>
      </p:sp>
      <p:cxnSp>
        <p:nvCxnSpPr>
          <p:cNvPr id="17" name="直線矢印コネクタ 16"/>
          <p:cNvCxnSpPr/>
          <p:nvPr/>
        </p:nvCxnSpPr>
        <p:spPr>
          <a:xfrm>
            <a:off x="9127547" y="3773432"/>
            <a:ext cx="47827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/>
          <p:cNvSpPr txBox="1"/>
          <p:nvPr/>
        </p:nvSpPr>
        <p:spPr>
          <a:xfrm>
            <a:off x="9605820" y="3325371"/>
            <a:ext cx="2368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標本標準偏差</a:t>
            </a:r>
            <a:endParaRPr kumimoji="1" lang="en-US" altLang="ja-JP" dirty="0"/>
          </a:p>
          <a:p>
            <a:r>
              <a:rPr kumimoji="1" lang="ja-JP" altLang="en-US" dirty="0"/>
              <a:t>（</a:t>
            </a:r>
            <a:r>
              <a:rPr kumimoji="1" lang="en-US" altLang="ja-JP" dirty="0"/>
              <a:t>=</a:t>
            </a:r>
            <a:r>
              <a:rPr kumimoji="1" lang="ja-JP" altLang="en-US" dirty="0"/>
              <a:t>標本分散の平方根）</a:t>
            </a:r>
          </a:p>
        </p:txBody>
      </p:sp>
      <p:cxnSp>
        <p:nvCxnSpPr>
          <p:cNvPr id="20" name="直線矢印コネクタ 19"/>
          <p:cNvCxnSpPr/>
          <p:nvPr/>
        </p:nvCxnSpPr>
        <p:spPr>
          <a:xfrm flipH="1" flipV="1">
            <a:off x="2909019" y="515071"/>
            <a:ext cx="1" cy="27872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/>
          <p:cNvCxnSpPr/>
          <p:nvPr/>
        </p:nvCxnSpPr>
        <p:spPr>
          <a:xfrm>
            <a:off x="2913784" y="2573282"/>
            <a:ext cx="891454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/>
          <p:cNvSpPr txBox="1"/>
          <p:nvPr/>
        </p:nvSpPr>
        <p:spPr>
          <a:xfrm>
            <a:off x="3663868" y="1570997"/>
            <a:ext cx="2403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標準偏差の点推定値（</a:t>
            </a:r>
            <a:r>
              <a:rPr kumimoji="1" lang="en-US" altLang="ja-JP" dirty="0"/>
              <a:t>=</a:t>
            </a:r>
            <a:r>
              <a:rPr kumimoji="1" lang="ja-JP" altLang="en-US" dirty="0"/>
              <a:t>不偏分散の平方根）</a:t>
            </a: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1961069" y="119601"/>
            <a:ext cx="1924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平均の点推定値</a:t>
            </a:r>
          </a:p>
        </p:txBody>
      </p:sp>
      <p:cxnSp>
        <p:nvCxnSpPr>
          <p:cNvPr id="32" name="曲線コネクタ 31"/>
          <p:cNvCxnSpPr/>
          <p:nvPr/>
        </p:nvCxnSpPr>
        <p:spPr>
          <a:xfrm rot="10800000" flipV="1">
            <a:off x="3278909" y="1770860"/>
            <a:ext cx="387503" cy="755098"/>
          </a:xfrm>
          <a:prstGeom prst="curvedConnector2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/>
          <p:cNvCxnSpPr/>
          <p:nvPr/>
        </p:nvCxnSpPr>
        <p:spPr>
          <a:xfrm>
            <a:off x="2663532" y="534786"/>
            <a:ext cx="0" cy="441527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/>
          <p:nvPr/>
        </p:nvCxnSpPr>
        <p:spPr>
          <a:xfrm>
            <a:off x="3149741" y="534786"/>
            <a:ext cx="0" cy="441527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曲線コネクタ 43"/>
          <p:cNvCxnSpPr/>
          <p:nvPr/>
        </p:nvCxnSpPr>
        <p:spPr>
          <a:xfrm rot="10800000">
            <a:off x="2990426" y="1185139"/>
            <a:ext cx="169214" cy="226486"/>
          </a:xfrm>
          <a:prstGeom prst="curvedConnector2">
            <a:avLst/>
          </a:prstGeom>
          <a:ln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/>
          <p:cNvCxnSpPr/>
          <p:nvPr/>
        </p:nvCxnSpPr>
        <p:spPr>
          <a:xfrm>
            <a:off x="4021138" y="2511372"/>
            <a:ext cx="0" cy="355653"/>
          </a:xfrm>
          <a:prstGeom prst="line">
            <a:avLst/>
          </a:prstGeom>
          <a:ln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/>
          <p:cNvCxnSpPr/>
          <p:nvPr/>
        </p:nvCxnSpPr>
        <p:spPr>
          <a:xfrm>
            <a:off x="3582988" y="2363724"/>
            <a:ext cx="0" cy="503301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/>
          <p:cNvCxnSpPr/>
          <p:nvPr/>
        </p:nvCxnSpPr>
        <p:spPr>
          <a:xfrm>
            <a:off x="2913784" y="2374201"/>
            <a:ext cx="669204" cy="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/>
          <p:cNvCxnSpPr/>
          <p:nvPr/>
        </p:nvCxnSpPr>
        <p:spPr>
          <a:xfrm>
            <a:off x="2906635" y="2814764"/>
            <a:ext cx="1107354" cy="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右中かっこ 64"/>
          <p:cNvSpPr/>
          <p:nvPr/>
        </p:nvSpPr>
        <p:spPr>
          <a:xfrm rot="5400000">
            <a:off x="3737424" y="2739549"/>
            <a:ext cx="129278" cy="438150"/>
          </a:xfrm>
          <a:prstGeom prst="rightBrace">
            <a:avLst>
              <a:gd name="adj1" fmla="val 56224"/>
              <a:gd name="adj2" fmla="val 50000"/>
            </a:avLst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テキスト ボックス 66"/>
          <p:cNvSpPr txBox="1"/>
          <p:nvPr/>
        </p:nvSpPr>
        <p:spPr>
          <a:xfrm>
            <a:off x="3503593" y="2975947"/>
            <a:ext cx="2306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標準偏差の信頼区間</a:t>
            </a:r>
          </a:p>
        </p:txBody>
      </p:sp>
      <p:sp>
        <p:nvSpPr>
          <p:cNvPr id="73" name="右中かっこ 72"/>
          <p:cNvSpPr/>
          <p:nvPr/>
        </p:nvSpPr>
        <p:spPr>
          <a:xfrm rot="5400000">
            <a:off x="2823110" y="847861"/>
            <a:ext cx="161920" cy="491341"/>
          </a:xfrm>
          <a:prstGeom prst="rightBrace">
            <a:avLst>
              <a:gd name="adj1" fmla="val 56224"/>
              <a:gd name="adj2" fmla="val 31907"/>
            </a:avLst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テキスト ボックス 82"/>
          <p:cNvSpPr txBox="1"/>
          <p:nvPr/>
        </p:nvSpPr>
        <p:spPr>
          <a:xfrm>
            <a:off x="3159640" y="1226959"/>
            <a:ext cx="1924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平均の信頼区間</a:t>
            </a:r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0" t="8071" b="8546"/>
          <a:stretch/>
        </p:blipFill>
        <p:spPr>
          <a:xfrm>
            <a:off x="509731" y="765858"/>
            <a:ext cx="4849091" cy="2537601"/>
          </a:xfrm>
          <a:prstGeom prst="rect">
            <a:avLst/>
          </a:prstGeom>
        </p:spPr>
      </p:pic>
      <p:cxnSp>
        <p:nvCxnSpPr>
          <p:cNvPr id="85" name="直線矢印コネクタ 84"/>
          <p:cNvCxnSpPr>
            <a:stCxn id="15" idx="1"/>
          </p:cNvCxnSpPr>
          <p:nvPr/>
        </p:nvCxnSpPr>
        <p:spPr>
          <a:xfrm flipH="1" flipV="1">
            <a:off x="6433126" y="1811776"/>
            <a:ext cx="2029403" cy="524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6" name="右中かっこ 85"/>
          <p:cNvSpPr/>
          <p:nvPr/>
        </p:nvSpPr>
        <p:spPr>
          <a:xfrm>
            <a:off x="5863050" y="194553"/>
            <a:ext cx="438739" cy="3234447"/>
          </a:xfrm>
          <a:prstGeom prst="rightBrace">
            <a:avLst>
              <a:gd name="adj1" fmla="val 85934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9" name="直線矢印コネクタ 88"/>
          <p:cNvCxnSpPr/>
          <p:nvPr/>
        </p:nvCxnSpPr>
        <p:spPr>
          <a:xfrm flipH="1" flipV="1">
            <a:off x="6410747" y="2034660"/>
            <a:ext cx="3195072" cy="1368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2" name="直線矢印コネクタ 91"/>
          <p:cNvCxnSpPr/>
          <p:nvPr/>
        </p:nvCxnSpPr>
        <p:spPr>
          <a:xfrm flipH="1" flipV="1">
            <a:off x="6433126" y="2196228"/>
            <a:ext cx="1929002" cy="3032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6" name="テキスト ボックス 95"/>
          <p:cNvSpPr txBox="1"/>
          <p:nvPr/>
        </p:nvSpPr>
        <p:spPr>
          <a:xfrm>
            <a:off x="6469606" y="1889135"/>
            <a:ext cx="1495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これらの値を用いて推定</a:t>
            </a:r>
          </a:p>
        </p:txBody>
      </p:sp>
    </p:spTree>
    <p:extLst>
      <p:ext uri="{BB962C8B-B14F-4D97-AF65-F5344CB8AC3E}">
        <p14:creationId xmlns:p14="http://schemas.microsoft.com/office/powerpoint/2010/main" val="3236283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704" y="3047947"/>
            <a:ext cx="8716591" cy="762106"/>
          </a:xfrm>
          <a:prstGeom prst="rect">
            <a:avLst/>
          </a:prstGeom>
        </p:spPr>
      </p:pic>
      <p:sp>
        <p:nvSpPr>
          <p:cNvPr id="5" name="楕円 4"/>
          <p:cNvSpPr/>
          <p:nvPr/>
        </p:nvSpPr>
        <p:spPr>
          <a:xfrm>
            <a:off x="8330184" y="3195828"/>
            <a:ext cx="393192" cy="374904"/>
          </a:xfrm>
          <a:prstGeom prst="ellipse">
            <a:avLst/>
          </a:prstGeom>
          <a:noFill/>
          <a:ln w="57150"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1462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/>
          <p:cNvGrpSpPr/>
          <p:nvPr/>
        </p:nvGrpSpPr>
        <p:grpSpPr>
          <a:xfrm>
            <a:off x="2087073" y="-686830"/>
            <a:ext cx="8678486" cy="13635377"/>
            <a:chOff x="2242521" y="-5853190"/>
            <a:chExt cx="8678486" cy="13635377"/>
          </a:xfrm>
        </p:grpSpPr>
        <p:grpSp>
          <p:nvGrpSpPr>
            <p:cNvPr id="7" name="グループ化 6"/>
            <p:cNvGrpSpPr/>
            <p:nvPr/>
          </p:nvGrpSpPr>
          <p:grpSpPr>
            <a:xfrm>
              <a:off x="2242521" y="-5853190"/>
              <a:ext cx="8678486" cy="12337360"/>
              <a:chOff x="2040221" y="-3748165"/>
              <a:chExt cx="8678486" cy="12337360"/>
            </a:xfrm>
          </p:grpSpPr>
          <p:pic>
            <p:nvPicPr>
              <p:cNvPr id="5" name="図 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40221" y="1377764"/>
                <a:ext cx="8659433" cy="7211431"/>
              </a:xfrm>
              <a:prstGeom prst="rect">
                <a:avLst/>
              </a:prstGeom>
            </p:spPr>
          </p:pic>
          <p:pic>
            <p:nvPicPr>
              <p:cNvPr id="4" name="図 3"/>
              <p:cNvPicPr>
                <a:picLocks noChangeAspect="1"/>
              </p:cNvPicPr>
              <p:nvPr/>
            </p:nvPicPr>
            <p:blipFill rotWithShape="1">
              <a:blip r:embed="rId3"/>
              <a:srcRect b="3748"/>
              <a:stretch/>
            </p:blipFill>
            <p:spPr>
              <a:xfrm>
                <a:off x="2040221" y="-3748165"/>
                <a:ext cx="8678486" cy="6317629"/>
              </a:xfrm>
              <a:prstGeom prst="rect">
                <a:avLst/>
              </a:prstGeom>
            </p:spPr>
          </p:pic>
        </p:grpSp>
        <p:pic>
          <p:nvPicPr>
            <p:cNvPr id="6" name="図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85417" y="4028813"/>
              <a:ext cx="8526065" cy="37533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7468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6FDB475-EA06-5B9A-C153-713E0BBC2649}"/>
              </a:ext>
            </a:extLst>
          </p:cNvPr>
          <p:cNvSpPr txBox="1"/>
          <p:nvPr/>
        </p:nvSpPr>
        <p:spPr>
          <a:xfrm>
            <a:off x="-72223" y="1030172"/>
            <a:ext cx="2133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dirty="0"/>
              <a:t>一要因分散分析</a:t>
            </a:r>
            <a:endParaRPr kumimoji="1" lang="en-US" altLang="ja-JP" sz="1400" dirty="0"/>
          </a:p>
          <a:p>
            <a:pPr algn="ctr"/>
            <a:endParaRPr kumimoji="1" lang="en-US" altLang="ja-JP" sz="1400" dirty="0"/>
          </a:p>
          <a:p>
            <a:pPr algn="ctr"/>
            <a:r>
              <a:rPr kumimoji="1" lang="ja-JP" altLang="en-US" sz="1400" dirty="0"/>
              <a:t>一元配置分散分析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0FBBB67-CEA6-CF2A-1D22-DEC86C082A20}"/>
              </a:ext>
            </a:extLst>
          </p:cNvPr>
          <p:cNvSpPr txBox="1"/>
          <p:nvPr/>
        </p:nvSpPr>
        <p:spPr>
          <a:xfrm>
            <a:off x="2757487" y="580001"/>
            <a:ext cx="2133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dirty="0"/>
              <a:t>一要因分散分析</a:t>
            </a:r>
            <a:br>
              <a:rPr kumimoji="1" lang="en-US" altLang="ja-JP" sz="1400" dirty="0"/>
            </a:br>
            <a:r>
              <a:rPr kumimoji="1" lang="ja-JP" altLang="en-US" sz="1400" dirty="0"/>
              <a:t>（対応あり）</a:t>
            </a:r>
            <a:endParaRPr kumimoji="1" lang="en-US" altLang="ja-JP" sz="1400" dirty="0"/>
          </a:p>
          <a:p>
            <a:pPr algn="ctr"/>
            <a:endParaRPr kumimoji="1" lang="en-US" altLang="ja-JP" sz="1400" dirty="0"/>
          </a:p>
          <a:p>
            <a:pPr algn="ctr"/>
            <a:r>
              <a:rPr kumimoji="1" lang="ja-JP" altLang="en-US" sz="1400" dirty="0"/>
              <a:t>二元配置分散分析</a:t>
            </a:r>
            <a:br>
              <a:rPr kumimoji="1" lang="en-US" altLang="ja-JP" sz="1400" dirty="0"/>
            </a:br>
            <a:r>
              <a:rPr kumimoji="1" lang="ja-JP" altLang="en-US" sz="1400" dirty="0"/>
              <a:t>（対応あり・繰り返しなし）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8152839-7E25-419C-7F95-558C6B4FB696}"/>
              </a:ext>
            </a:extLst>
          </p:cNvPr>
          <p:cNvSpPr txBox="1"/>
          <p:nvPr/>
        </p:nvSpPr>
        <p:spPr>
          <a:xfrm>
            <a:off x="6096000" y="586433"/>
            <a:ext cx="2133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dirty="0"/>
              <a:t>二要因分散分析</a:t>
            </a:r>
            <a:br>
              <a:rPr kumimoji="1" lang="en-US" altLang="ja-JP" sz="1400" dirty="0"/>
            </a:br>
            <a:r>
              <a:rPr kumimoji="1" lang="ja-JP" altLang="en-US" sz="1400" dirty="0"/>
              <a:t>（対応なし）</a:t>
            </a:r>
            <a:endParaRPr kumimoji="1" lang="en-US" altLang="ja-JP" sz="1400" dirty="0"/>
          </a:p>
          <a:p>
            <a:pPr algn="ctr"/>
            <a:endParaRPr kumimoji="1" lang="en-US" altLang="ja-JP" sz="1400" dirty="0"/>
          </a:p>
          <a:p>
            <a:pPr algn="ctr"/>
            <a:r>
              <a:rPr kumimoji="1" lang="ja-JP" altLang="en-US" sz="1400" dirty="0"/>
              <a:t>二元配置分散分析</a:t>
            </a:r>
            <a:br>
              <a:rPr kumimoji="1" lang="en-US" altLang="ja-JP" sz="1400" dirty="0"/>
            </a:br>
            <a:r>
              <a:rPr kumimoji="1" lang="ja-JP" altLang="en-US" sz="1400" dirty="0"/>
              <a:t>（対応なし・繰り返しあり）</a:t>
            </a:r>
          </a:p>
        </p:txBody>
      </p:sp>
      <p:sp>
        <p:nvSpPr>
          <p:cNvPr id="11" name="大かっこ 10">
            <a:extLst>
              <a:ext uri="{FF2B5EF4-FFF2-40B4-BE49-F238E27FC236}">
                <a16:creationId xmlns:a16="http://schemas.microsoft.com/office/drawing/2014/main" id="{D06FFB5C-8475-F3AB-1C68-56887B3D2428}"/>
              </a:ext>
            </a:extLst>
          </p:cNvPr>
          <p:cNvSpPr/>
          <p:nvPr/>
        </p:nvSpPr>
        <p:spPr>
          <a:xfrm>
            <a:off x="2774497" y="1207058"/>
            <a:ext cx="2028616" cy="471017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大かっこ 12">
            <a:extLst>
              <a:ext uri="{FF2B5EF4-FFF2-40B4-BE49-F238E27FC236}">
                <a16:creationId xmlns:a16="http://schemas.microsoft.com/office/drawing/2014/main" id="{BF4E37F7-41CE-B4F8-B4A1-4FBA7DC88A4B}"/>
              </a:ext>
            </a:extLst>
          </p:cNvPr>
          <p:cNvSpPr/>
          <p:nvPr/>
        </p:nvSpPr>
        <p:spPr>
          <a:xfrm>
            <a:off x="6166965" y="1207058"/>
            <a:ext cx="2062636" cy="471017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大かっこ 13">
            <a:extLst>
              <a:ext uri="{FF2B5EF4-FFF2-40B4-BE49-F238E27FC236}">
                <a16:creationId xmlns:a16="http://schemas.microsoft.com/office/drawing/2014/main" id="{8BF4A6CB-5896-0039-7CD7-F67BEE2876BB}"/>
              </a:ext>
            </a:extLst>
          </p:cNvPr>
          <p:cNvSpPr/>
          <p:nvPr/>
        </p:nvSpPr>
        <p:spPr>
          <a:xfrm>
            <a:off x="223838" y="1492545"/>
            <a:ext cx="1590518" cy="219078"/>
          </a:xfrm>
          <a:prstGeom prst="bracketPair">
            <a:avLst>
              <a:gd name="adj" fmla="val 297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914D632-835E-9F31-5B5E-001D4FCC5800}"/>
              </a:ext>
            </a:extLst>
          </p:cNvPr>
          <p:cNvSpPr txBox="1"/>
          <p:nvPr/>
        </p:nvSpPr>
        <p:spPr>
          <a:xfrm>
            <a:off x="9512440" y="586433"/>
            <a:ext cx="2133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dirty="0"/>
              <a:t>二要因分散分析</a:t>
            </a:r>
            <a:br>
              <a:rPr kumimoji="1" lang="en-US" altLang="ja-JP" sz="1400" dirty="0"/>
            </a:br>
            <a:r>
              <a:rPr kumimoji="1" lang="ja-JP" altLang="en-US" sz="1400" dirty="0"/>
              <a:t>（対応あり）</a:t>
            </a:r>
            <a:endParaRPr kumimoji="1" lang="en-US" altLang="ja-JP" sz="1400" dirty="0"/>
          </a:p>
          <a:p>
            <a:pPr algn="ctr"/>
            <a:endParaRPr kumimoji="1" lang="en-US" altLang="ja-JP" sz="1400" dirty="0"/>
          </a:p>
          <a:p>
            <a:pPr algn="ctr"/>
            <a:r>
              <a:rPr kumimoji="1" lang="ja-JP" altLang="en-US" sz="1400" dirty="0"/>
              <a:t>二元配置分散分析</a:t>
            </a:r>
            <a:br>
              <a:rPr kumimoji="1" lang="en-US" altLang="ja-JP" sz="1400" dirty="0"/>
            </a:br>
            <a:r>
              <a:rPr kumimoji="1" lang="ja-JP" altLang="en-US" sz="1400" dirty="0"/>
              <a:t>（対応あり・繰り返しあり）</a:t>
            </a:r>
          </a:p>
        </p:txBody>
      </p:sp>
      <p:sp>
        <p:nvSpPr>
          <p:cNvPr id="16" name="大かっこ 15">
            <a:extLst>
              <a:ext uri="{FF2B5EF4-FFF2-40B4-BE49-F238E27FC236}">
                <a16:creationId xmlns:a16="http://schemas.microsoft.com/office/drawing/2014/main" id="{4327B81A-95BC-FD0D-564E-8DC7405726E8}"/>
              </a:ext>
            </a:extLst>
          </p:cNvPr>
          <p:cNvSpPr/>
          <p:nvPr/>
        </p:nvSpPr>
        <p:spPr>
          <a:xfrm>
            <a:off x="9583405" y="1207058"/>
            <a:ext cx="2062636" cy="471017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443EEE1-EDD2-BE1B-44F4-C8CAB64E6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62" y="1755984"/>
            <a:ext cx="12192000" cy="491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7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46826F0-9665-683D-B8B7-65CE4DCA3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137" y="1856068"/>
            <a:ext cx="11120751" cy="13219814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FA43AD0-3B11-F8C8-EA50-72B1A597DAFA}"/>
              </a:ext>
            </a:extLst>
          </p:cNvPr>
          <p:cNvSpPr txBox="1"/>
          <p:nvPr/>
        </p:nvSpPr>
        <p:spPr>
          <a:xfrm>
            <a:off x="128744" y="1028408"/>
            <a:ext cx="2133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dirty="0"/>
              <a:t>一要因分散分析</a:t>
            </a:r>
            <a:endParaRPr kumimoji="1" lang="en-US" altLang="ja-JP" sz="1400" dirty="0"/>
          </a:p>
          <a:p>
            <a:pPr algn="ctr"/>
            <a:endParaRPr kumimoji="1" lang="en-US" altLang="ja-JP" sz="1400" dirty="0"/>
          </a:p>
          <a:p>
            <a:pPr algn="ctr"/>
            <a:r>
              <a:rPr kumimoji="1" lang="ja-JP" altLang="en-US" sz="1400" dirty="0"/>
              <a:t>一元配置分散分析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D4C318E-C5C9-F409-8C6D-0911407E409D}"/>
              </a:ext>
            </a:extLst>
          </p:cNvPr>
          <p:cNvSpPr txBox="1"/>
          <p:nvPr/>
        </p:nvSpPr>
        <p:spPr>
          <a:xfrm>
            <a:off x="2948092" y="597737"/>
            <a:ext cx="2133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dirty="0"/>
              <a:t>一要因分散分析</a:t>
            </a:r>
            <a:br>
              <a:rPr kumimoji="1" lang="en-US" altLang="ja-JP" sz="1400" dirty="0"/>
            </a:br>
            <a:r>
              <a:rPr kumimoji="1" lang="ja-JP" altLang="en-US" sz="1400" dirty="0"/>
              <a:t>（対応あり）</a:t>
            </a:r>
            <a:endParaRPr kumimoji="1" lang="en-US" altLang="ja-JP" sz="1400" dirty="0"/>
          </a:p>
          <a:p>
            <a:pPr algn="ctr"/>
            <a:endParaRPr kumimoji="1" lang="en-US" altLang="ja-JP" sz="1400" dirty="0"/>
          </a:p>
          <a:p>
            <a:pPr algn="ctr"/>
            <a:r>
              <a:rPr kumimoji="1" lang="ja-JP" altLang="en-US" sz="1400" dirty="0"/>
              <a:t>二元配置分散分析</a:t>
            </a:r>
            <a:br>
              <a:rPr kumimoji="1" lang="en-US" altLang="ja-JP" sz="1400" dirty="0"/>
            </a:br>
            <a:r>
              <a:rPr kumimoji="1" lang="ja-JP" altLang="en-US" sz="1400" dirty="0"/>
              <a:t>（対応あり・繰り返しなし）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271B12B-D695-017B-2134-E67FBFE559CB}"/>
              </a:ext>
            </a:extLst>
          </p:cNvPr>
          <p:cNvSpPr txBox="1"/>
          <p:nvPr/>
        </p:nvSpPr>
        <p:spPr>
          <a:xfrm>
            <a:off x="5935227" y="618217"/>
            <a:ext cx="2133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dirty="0"/>
              <a:t>二要因分散分析</a:t>
            </a:r>
            <a:br>
              <a:rPr kumimoji="1" lang="en-US" altLang="ja-JP" sz="1400" dirty="0"/>
            </a:br>
            <a:r>
              <a:rPr kumimoji="1" lang="ja-JP" altLang="en-US" sz="1400" dirty="0"/>
              <a:t>（対応なし）</a:t>
            </a:r>
            <a:endParaRPr kumimoji="1" lang="en-US" altLang="ja-JP" sz="1400" dirty="0"/>
          </a:p>
          <a:p>
            <a:pPr algn="ctr"/>
            <a:endParaRPr kumimoji="1" lang="en-US" altLang="ja-JP" sz="1400" dirty="0"/>
          </a:p>
          <a:p>
            <a:pPr algn="ctr"/>
            <a:r>
              <a:rPr kumimoji="1" lang="ja-JP" altLang="en-US" sz="1400" dirty="0"/>
              <a:t>二元配置分散分析</a:t>
            </a:r>
            <a:br>
              <a:rPr kumimoji="1" lang="en-US" altLang="ja-JP" sz="1400" dirty="0"/>
            </a:br>
            <a:r>
              <a:rPr kumimoji="1" lang="ja-JP" altLang="en-US" sz="1400" dirty="0"/>
              <a:t>（対応なし・繰り返しあり）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C157E73-7B32-A0BF-84CE-FEF3A2804D29}"/>
              </a:ext>
            </a:extLst>
          </p:cNvPr>
          <p:cNvSpPr txBox="1"/>
          <p:nvPr/>
        </p:nvSpPr>
        <p:spPr>
          <a:xfrm>
            <a:off x="9361715" y="597521"/>
            <a:ext cx="2133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dirty="0"/>
              <a:t>二要因分散分析</a:t>
            </a:r>
            <a:br>
              <a:rPr kumimoji="1" lang="en-US" altLang="ja-JP" sz="1400" dirty="0"/>
            </a:br>
            <a:r>
              <a:rPr kumimoji="1" lang="ja-JP" altLang="en-US" sz="1400" dirty="0"/>
              <a:t>（対応あり）</a:t>
            </a:r>
            <a:endParaRPr kumimoji="1" lang="en-US" altLang="ja-JP" sz="1400" dirty="0"/>
          </a:p>
          <a:p>
            <a:pPr algn="ctr"/>
            <a:endParaRPr kumimoji="1" lang="en-US" altLang="ja-JP" sz="1400" dirty="0"/>
          </a:p>
          <a:p>
            <a:pPr algn="ctr"/>
            <a:r>
              <a:rPr kumimoji="1" lang="ja-JP" altLang="en-US" sz="1400" dirty="0"/>
              <a:t>二元配置分散分析</a:t>
            </a:r>
            <a:br>
              <a:rPr kumimoji="1" lang="en-US" altLang="ja-JP" sz="1400" dirty="0"/>
            </a:br>
            <a:r>
              <a:rPr kumimoji="1" lang="ja-JP" altLang="en-US" sz="1400" dirty="0"/>
              <a:t>（対応あり・繰り返しあり）</a:t>
            </a:r>
          </a:p>
        </p:txBody>
      </p:sp>
      <p:sp>
        <p:nvSpPr>
          <p:cNvPr id="10" name="大かっこ 9">
            <a:extLst>
              <a:ext uri="{FF2B5EF4-FFF2-40B4-BE49-F238E27FC236}">
                <a16:creationId xmlns:a16="http://schemas.microsoft.com/office/drawing/2014/main" id="{CA1C2C88-3A5E-AABA-84D4-E740B04A231F}"/>
              </a:ext>
            </a:extLst>
          </p:cNvPr>
          <p:cNvSpPr/>
          <p:nvPr/>
        </p:nvSpPr>
        <p:spPr>
          <a:xfrm>
            <a:off x="2965102" y="1224794"/>
            <a:ext cx="2028616" cy="471017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大かっこ 10">
            <a:extLst>
              <a:ext uri="{FF2B5EF4-FFF2-40B4-BE49-F238E27FC236}">
                <a16:creationId xmlns:a16="http://schemas.microsoft.com/office/drawing/2014/main" id="{C06F7171-5ABC-8781-AE41-058AA7008B7F}"/>
              </a:ext>
            </a:extLst>
          </p:cNvPr>
          <p:cNvSpPr/>
          <p:nvPr/>
        </p:nvSpPr>
        <p:spPr>
          <a:xfrm>
            <a:off x="6006192" y="1238842"/>
            <a:ext cx="2062636" cy="471017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大かっこ 11">
            <a:extLst>
              <a:ext uri="{FF2B5EF4-FFF2-40B4-BE49-F238E27FC236}">
                <a16:creationId xmlns:a16="http://schemas.microsoft.com/office/drawing/2014/main" id="{DD5A26DD-964A-3DF4-3DB0-F60BBFC32D20}"/>
              </a:ext>
            </a:extLst>
          </p:cNvPr>
          <p:cNvSpPr/>
          <p:nvPr/>
        </p:nvSpPr>
        <p:spPr>
          <a:xfrm>
            <a:off x="424805" y="1490781"/>
            <a:ext cx="1590518" cy="219078"/>
          </a:xfrm>
          <a:prstGeom prst="bracketPair">
            <a:avLst>
              <a:gd name="adj" fmla="val 297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大かっこ 12">
            <a:extLst>
              <a:ext uri="{FF2B5EF4-FFF2-40B4-BE49-F238E27FC236}">
                <a16:creationId xmlns:a16="http://schemas.microsoft.com/office/drawing/2014/main" id="{C7DAA8A9-4CFD-DAA1-2656-C11F8128167E}"/>
              </a:ext>
            </a:extLst>
          </p:cNvPr>
          <p:cNvSpPr/>
          <p:nvPr/>
        </p:nvSpPr>
        <p:spPr>
          <a:xfrm>
            <a:off x="9432680" y="1218146"/>
            <a:ext cx="2062636" cy="471017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0335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楕円 3">
            <a:extLst>
              <a:ext uri="{FF2B5EF4-FFF2-40B4-BE49-F238E27FC236}">
                <a16:creationId xmlns:a16="http://schemas.microsoft.com/office/drawing/2014/main" id="{1535A2B5-B584-DD55-E6A5-693C3BDFEDB7}"/>
              </a:ext>
            </a:extLst>
          </p:cNvPr>
          <p:cNvSpPr/>
          <p:nvPr/>
        </p:nvSpPr>
        <p:spPr>
          <a:xfrm>
            <a:off x="4502461" y="2982778"/>
            <a:ext cx="914400" cy="914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4400" dirty="0"/>
              <a:t>J</a:t>
            </a:r>
            <a:endParaRPr kumimoji="1" lang="ja-JP" altLang="en-US" sz="4400" dirty="0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22E5AA51-EB2A-B3EF-F7D6-FAC83DC1805A}"/>
              </a:ext>
            </a:extLst>
          </p:cNvPr>
          <p:cNvSpPr/>
          <p:nvPr/>
        </p:nvSpPr>
        <p:spPr>
          <a:xfrm>
            <a:off x="7275287" y="4398145"/>
            <a:ext cx="914400" cy="914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4400" dirty="0"/>
              <a:t>H</a:t>
            </a:r>
            <a:endParaRPr kumimoji="1" lang="ja-JP" altLang="en-US" sz="4400" dirty="0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BABBEC09-839D-26EA-71E6-442B850840EF}"/>
              </a:ext>
            </a:extLst>
          </p:cNvPr>
          <p:cNvSpPr/>
          <p:nvPr/>
        </p:nvSpPr>
        <p:spPr>
          <a:xfrm>
            <a:off x="7275287" y="1621656"/>
            <a:ext cx="914400" cy="914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4400" dirty="0"/>
              <a:t>K</a:t>
            </a:r>
            <a:endParaRPr kumimoji="1" lang="ja-JP" altLang="en-US" sz="4400" dirty="0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283F0B4A-040D-8B71-AD0E-F9D0ABC67445}"/>
              </a:ext>
            </a:extLst>
          </p:cNvPr>
          <p:cNvCxnSpPr>
            <a:stCxn id="4" idx="5"/>
            <a:endCxn id="5" idx="2"/>
          </p:cNvCxnSpPr>
          <p:nvPr/>
        </p:nvCxnSpPr>
        <p:spPr>
          <a:xfrm>
            <a:off x="5282950" y="3763267"/>
            <a:ext cx="1992337" cy="1092078"/>
          </a:xfrm>
          <a:prstGeom prst="straightConnector1">
            <a:avLst/>
          </a:prstGeom>
          <a:ln>
            <a:headEnd type="arrow" w="lg" len="lg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AD61ED5E-22AA-4D46-66AA-534A08F057B0}"/>
              </a:ext>
            </a:extLst>
          </p:cNvPr>
          <p:cNvCxnSpPr>
            <a:cxnSpLocks/>
            <a:stCxn id="4" idx="7"/>
            <a:endCxn id="6" idx="2"/>
          </p:cNvCxnSpPr>
          <p:nvPr/>
        </p:nvCxnSpPr>
        <p:spPr>
          <a:xfrm flipV="1">
            <a:off x="5282950" y="2078856"/>
            <a:ext cx="1992337" cy="1037833"/>
          </a:xfrm>
          <a:prstGeom prst="straightConnector1">
            <a:avLst/>
          </a:prstGeom>
          <a:ln>
            <a:headEnd type="arrow" w="lg" len="lg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58163E4-C918-53AB-6F17-DFE46EEAEB71}"/>
              </a:ext>
            </a:extLst>
          </p:cNvPr>
          <p:cNvSpPr txBox="1"/>
          <p:nvPr/>
        </p:nvSpPr>
        <p:spPr>
          <a:xfrm>
            <a:off x="5373096" y="1848024"/>
            <a:ext cx="1518833" cy="4616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相関　</a:t>
            </a:r>
            <a:r>
              <a:rPr kumimoji="1" lang="en-US" altLang="ja-JP" sz="2400" b="1" dirty="0" err="1"/>
              <a:t>r.jk</a:t>
            </a:r>
            <a:endParaRPr kumimoji="1" lang="ja-JP" altLang="en-US" sz="2400" b="1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BC2EA36-6AEC-DB31-5332-B68AF722CB54}"/>
              </a:ext>
            </a:extLst>
          </p:cNvPr>
          <p:cNvSpPr txBox="1"/>
          <p:nvPr/>
        </p:nvSpPr>
        <p:spPr>
          <a:xfrm>
            <a:off x="5373096" y="4602351"/>
            <a:ext cx="1518833" cy="4616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相関　</a:t>
            </a:r>
            <a:r>
              <a:rPr kumimoji="1" lang="en-US" altLang="ja-JP" sz="2400" b="1" dirty="0" err="1"/>
              <a:t>r.jh</a:t>
            </a:r>
            <a:endParaRPr kumimoji="1" lang="ja-JP" altLang="en-US" sz="2400" b="1" dirty="0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5D54E642-0D80-DFF2-117D-5BDDCD4BC700}"/>
              </a:ext>
            </a:extLst>
          </p:cNvPr>
          <p:cNvCxnSpPr>
            <a:cxnSpLocks/>
            <a:stCxn id="6" idx="4"/>
            <a:endCxn id="5" idx="0"/>
          </p:cNvCxnSpPr>
          <p:nvPr/>
        </p:nvCxnSpPr>
        <p:spPr>
          <a:xfrm>
            <a:off x="7732487" y="2536056"/>
            <a:ext cx="0" cy="1862089"/>
          </a:xfrm>
          <a:prstGeom prst="straightConnector1">
            <a:avLst/>
          </a:prstGeom>
          <a:ln>
            <a:headEnd type="arrow" w="lg" len="lg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B491E715-D93E-CE95-146C-0EFF2F413950}"/>
              </a:ext>
            </a:extLst>
          </p:cNvPr>
          <p:cNvSpPr txBox="1"/>
          <p:nvPr/>
        </p:nvSpPr>
        <p:spPr>
          <a:xfrm>
            <a:off x="7739374" y="3236267"/>
            <a:ext cx="1518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相関　</a:t>
            </a:r>
            <a:r>
              <a:rPr kumimoji="1" lang="en-US" altLang="ja-JP" sz="2400" b="1" dirty="0"/>
              <a:t>r.kh</a:t>
            </a:r>
            <a:endParaRPr kumimoji="1" lang="ja-JP" altLang="en-US" sz="2400" b="1" dirty="0"/>
          </a:p>
        </p:txBody>
      </p:sp>
      <p:cxnSp>
        <p:nvCxnSpPr>
          <p:cNvPr id="25" name="コネクタ: 曲線 24">
            <a:extLst>
              <a:ext uri="{FF2B5EF4-FFF2-40B4-BE49-F238E27FC236}">
                <a16:creationId xmlns:a16="http://schemas.microsoft.com/office/drawing/2014/main" id="{C6CE4296-81F7-73A5-6F13-8CB5199AFEB3}"/>
              </a:ext>
            </a:extLst>
          </p:cNvPr>
          <p:cNvCxnSpPr>
            <a:stCxn id="12" idx="1"/>
            <a:endCxn id="13" idx="1"/>
          </p:cNvCxnSpPr>
          <p:nvPr/>
        </p:nvCxnSpPr>
        <p:spPr>
          <a:xfrm rot="10800000" flipV="1">
            <a:off x="5373096" y="2078856"/>
            <a:ext cx="12700" cy="2754327"/>
          </a:xfrm>
          <a:prstGeom prst="curvedConnector3">
            <a:avLst>
              <a:gd name="adj1" fmla="val 13571425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C0D8B80-2302-DCEE-3BCD-708ECE13F5C5}"/>
              </a:ext>
            </a:extLst>
          </p:cNvPr>
          <p:cNvSpPr txBox="1"/>
          <p:nvPr/>
        </p:nvSpPr>
        <p:spPr>
          <a:xfrm>
            <a:off x="1781032" y="3143934"/>
            <a:ext cx="17025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ここの差を検定したい</a:t>
            </a:r>
          </a:p>
        </p:txBody>
      </p:sp>
    </p:spTree>
    <p:extLst>
      <p:ext uri="{BB962C8B-B14F-4D97-AF65-F5344CB8AC3E}">
        <p14:creationId xmlns:p14="http://schemas.microsoft.com/office/powerpoint/2010/main" val="2919842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楕円 3">
            <a:extLst>
              <a:ext uri="{FF2B5EF4-FFF2-40B4-BE49-F238E27FC236}">
                <a16:creationId xmlns:a16="http://schemas.microsoft.com/office/drawing/2014/main" id="{86D75F2E-ADF5-E350-E810-A65E0AD473D4}"/>
              </a:ext>
            </a:extLst>
          </p:cNvPr>
          <p:cNvSpPr/>
          <p:nvPr/>
        </p:nvSpPr>
        <p:spPr>
          <a:xfrm>
            <a:off x="4459514" y="1697541"/>
            <a:ext cx="914400" cy="914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4400" dirty="0"/>
              <a:t>J</a:t>
            </a:r>
            <a:endParaRPr kumimoji="1" lang="ja-JP" altLang="en-US" sz="4400" dirty="0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1412A989-42D9-313A-3BF0-9E7B5B9E7657}"/>
              </a:ext>
            </a:extLst>
          </p:cNvPr>
          <p:cNvSpPr/>
          <p:nvPr/>
        </p:nvSpPr>
        <p:spPr>
          <a:xfrm>
            <a:off x="7275287" y="4398145"/>
            <a:ext cx="914400" cy="914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4400" dirty="0"/>
              <a:t>M</a:t>
            </a: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6D9877E7-3553-2506-43EF-9234182CBD8F}"/>
              </a:ext>
            </a:extLst>
          </p:cNvPr>
          <p:cNvSpPr/>
          <p:nvPr/>
        </p:nvSpPr>
        <p:spPr>
          <a:xfrm>
            <a:off x="7275287" y="1697541"/>
            <a:ext cx="914400" cy="914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4400" dirty="0"/>
              <a:t>K</a:t>
            </a:r>
            <a:endParaRPr kumimoji="1" lang="ja-JP" altLang="en-US" sz="4400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3C8692B4-D492-F837-1C3F-712EC349460B}"/>
              </a:ext>
            </a:extLst>
          </p:cNvPr>
          <p:cNvSpPr/>
          <p:nvPr/>
        </p:nvSpPr>
        <p:spPr>
          <a:xfrm>
            <a:off x="4459514" y="4398145"/>
            <a:ext cx="914400" cy="914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4400" dirty="0"/>
              <a:t>H</a:t>
            </a:r>
            <a:endParaRPr kumimoji="1" lang="ja-JP" altLang="en-US" sz="4400" dirty="0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F5EE8731-C318-56C7-5807-41905A3A478B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4916714" y="2611941"/>
            <a:ext cx="0" cy="1786204"/>
          </a:xfrm>
          <a:prstGeom prst="straightConnector1">
            <a:avLst/>
          </a:prstGeom>
          <a:ln>
            <a:solidFill>
              <a:srgbClr val="FF0000"/>
            </a:solidFill>
            <a:headEnd type="arrow" w="lg" len="lg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1A08DB89-CD06-3611-4BF8-021F671E8BFB}"/>
              </a:ext>
            </a:extLst>
          </p:cNvPr>
          <p:cNvCxnSpPr>
            <a:cxnSpLocks/>
            <a:stCxn id="6" idx="4"/>
            <a:endCxn id="5" idx="0"/>
          </p:cNvCxnSpPr>
          <p:nvPr/>
        </p:nvCxnSpPr>
        <p:spPr>
          <a:xfrm>
            <a:off x="7732487" y="2611941"/>
            <a:ext cx="0" cy="1786204"/>
          </a:xfrm>
          <a:prstGeom prst="straightConnector1">
            <a:avLst/>
          </a:prstGeom>
          <a:ln>
            <a:solidFill>
              <a:srgbClr val="FF0000"/>
            </a:solidFill>
            <a:headEnd type="arrow" w="lg" len="lg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5AA8699C-FDF3-CE26-0246-2D1D27D5B2BE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>
            <a:off x="5373914" y="2154741"/>
            <a:ext cx="1901373" cy="0"/>
          </a:xfrm>
          <a:prstGeom prst="straightConnector1">
            <a:avLst/>
          </a:prstGeom>
          <a:ln>
            <a:headEnd type="arrow" w="lg" len="lg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FF65AB61-A288-1F5D-1386-DD40B920664B}"/>
              </a:ext>
            </a:extLst>
          </p:cNvPr>
          <p:cNvCxnSpPr>
            <a:cxnSpLocks/>
            <a:stCxn id="4" idx="5"/>
            <a:endCxn id="5" idx="1"/>
          </p:cNvCxnSpPr>
          <p:nvPr/>
        </p:nvCxnSpPr>
        <p:spPr>
          <a:xfrm>
            <a:off x="5240003" y="2478030"/>
            <a:ext cx="2169195" cy="2054026"/>
          </a:xfrm>
          <a:prstGeom prst="straightConnector1">
            <a:avLst/>
          </a:prstGeom>
          <a:ln>
            <a:solidFill>
              <a:srgbClr val="FF0000"/>
            </a:solidFill>
            <a:headEnd type="arrow" w="lg" len="lg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82408E8F-1685-9EBF-F012-9EE1311ECC31}"/>
              </a:ext>
            </a:extLst>
          </p:cNvPr>
          <p:cNvCxnSpPr>
            <a:cxnSpLocks/>
            <a:stCxn id="7" idx="7"/>
            <a:endCxn id="6" idx="3"/>
          </p:cNvCxnSpPr>
          <p:nvPr/>
        </p:nvCxnSpPr>
        <p:spPr>
          <a:xfrm flipV="1">
            <a:off x="5240003" y="2478030"/>
            <a:ext cx="2169195" cy="2054026"/>
          </a:xfrm>
          <a:prstGeom prst="straightConnector1">
            <a:avLst/>
          </a:prstGeom>
          <a:ln>
            <a:solidFill>
              <a:srgbClr val="FF0000"/>
            </a:solidFill>
            <a:headEnd type="arrow" w="lg" len="lg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A6804355-D7E9-7166-E7C3-22ADE7503BAA}"/>
              </a:ext>
            </a:extLst>
          </p:cNvPr>
          <p:cNvCxnSpPr>
            <a:cxnSpLocks/>
            <a:stCxn id="7" idx="6"/>
            <a:endCxn id="5" idx="2"/>
          </p:cNvCxnSpPr>
          <p:nvPr/>
        </p:nvCxnSpPr>
        <p:spPr>
          <a:xfrm>
            <a:off x="5373914" y="4855345"/>
            <a:ext cx="1901373" cy="0"/>
          </a:xfrm>
          <a:prstGeom prst="straightConnector1">
            <a:avLst/>
          </a:prstGeom>
          <a:ln>
            <a:headEnd type="arrow" w="lg" len="lg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A4B22A0-173F-4628-04B8-F2F203AEB1A3}"/>
              </a:ext>
            </a:extLst>
          </p:cNvPr>
          <p:cNvSpPr txBox="1"/>
          <p:nvPr/>
        </p:nvSpPr>
        <p:spPr>
          <a:xfrm>
            <a:off x="6074456" y="1600619"/>
            <a:ext cx="914401" cy="4616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 err="1"/>
              <a:t>r.jk</a:t>
            </a:r>
            <a:endParaRPr kumimoji="1" lang="ja-JP" altLang="en-US" sz="2400" b="1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AEDC8D2-EECF-AA83-2F31-5669FCF8E3B9}"/>
              </a:ext>
            </a:extLst>
          </p:cNvPr>
          <p:cNvSpPr txBox="1"/>
          <p:nvPr/>
        </p:nvSpPr>
        <p:spPr>
          <a:xfrm>
            <a:off x="5434997" y="2750061"/>
            <a:ext cx="805543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r.jm</a:t>
            </a:r>
            <a:endParaRPr kumimoji="1" lang="ja-JP" altLang="en-US" sz="2400" b="1" dirty="0">
              <a:solidFill>
                <a:srgbClr val="FF0000"/>
              </a:solidFill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740A2B1-B926-1B80-3BD9-3DC5337DC8B1}"/>
              </a:ext>
            </a:extLst>
          </p:cNvPr>
          <p:cNvSpPr txBox="1"/>
          <p:nvPr/>
        </p:nvSpPr>
        <p:spPr>
          <a:xfrm>
            <a:off x="4587551" y="3179393"/>
            <a:ext cx="847446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r.jh</a:t>
            </a:r>
            <a:endParaRPr kumimoji="1" lang="ja-JP" altLang="en-US" sz="2400" b="1" dirty="0">
              <a:solidFill>
                <a:srgbClr val="FF0000"/>
              </a:solidFill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01D5C00-0A75-F332-E188-5027320C78DE}"/>
              </a:ext>
            </a:extLst>
          </p:cNvPr>
          <p:cNvSpPr txBox="1"/>
          <p:nvPr/>
        </p:nvSpPr>
        <p:spPr>
          <a:xfrm>
            <a:off x="6074456" y="5026548"/>
            <a:ext cx="914401" cy="4616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/>
              <a:t>r.hm</a:t>
            </a:r>
            <a:endParaRPr kumimoji="1" lang="ja-JP" altLang="en-US" sz="2400" b="1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EBCC31D-1335-D64F-5AE8-CA506282E42A}"/>
              </a:ext>
            </a:extLst>
          </p:cNvPr>
          <p:cNvSpPr txBox="1"/>
          <p:nvPr/>
        </p:nvSpPr>
        <p:spPr>
          <a:xfrm>
            <a:off x="6563828" y="2750060"/>
            <a:ext cx="805543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r.kh</a:t>
            </a:r>
            <a:endParaRPr kumimoji="1" lang="ja-JP" altLang="en-US" sz="2400" b="1" dirty="0">
              <a:solidFill>
                <a:srgbClr val="FF0000"/>
              </a:solidFill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45AAA4ED-0946-17B0-6C73-BC18594E1901}"/>
              </a:ext>
            </a:extLst>
          </p:cNvPr>
          <p:cNvSpPr txBox="1"/>
          <p:nvPr/>
        </p:nvSpPr>
        <p:spPr>
          <a:xfrm>
            <a:off x="7384144" y="3336696"/>
            <a:ext cx="805543" cy="461665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r.km</a:t>
            </a:r>
            <a:endParaRPr kumimoji="1" lang="ja-JP" altLang="en-US" sz="2400" b="1" dirty="0">
              <a:solidFill>
                <a:srgbClr val="FF0000"/>
              </a:solidFill>
            </a:endParaRPr>
          </a:p>
        </p:txBody>
      </p:sp>
      <p:cxnSp>
        <p:nvCxnSpPr>
          <p:cNvPr id="34" name="コネクタ: 曲線 33">
            <a:extLst>
              <a:ext uri="{FF2B5EF4-FFF2-40B4-BE49-F238E27FC236}">
                <a16:creationId xmlns:a16="http://schemas.microsoft.com/office/drawing/2014/main" id="{BBBF10A3-3867-B0AB-3509-B85ABEAB1D35}"/>
              </a:ext>
            </a:extLst>
          </p:cNvPr>
          <p:cNvCxnSpPr>
            <a:cxnSpLocks/>
            <a:stCxn id="28" idx="0"/>
            <a:endCxn id="31" idx="2"/>
          </p:cNvCxnSpPr>
          <p:nvPr/>
        </p:nvCxnSpPr>
        <p:spPr>
          <a:xfrm rot="16200000" flipH="1">
            <a:off x="4587860" y="3544416"/>
            <a:ext cx="3887594" cy="12700"/>
          </a:xfrm>
          <a:prstGeom prst="curvedConnector5">
            <a:avLst>
              <a:gd name="adj1" fmla="val -5880"/>
              <a:gd name="adj2" fmla="val -25342850"/>
              <a:gd name="adj3" fmla="val 10588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42E0E8FA-E008-FF14-3863-AB60B119D7BD}"/>
              </a:ext>
            </a:extLst>
          </p:cNvPr>
          <p:cNvSpPr txBox="1"/>
          <p:nvPr/>
        </p:nvSpPr>
        <p:spPr>
          <a:xfrm>
            <a:off x="1488538" y="3152029"/>
            <a:ext cx="17025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ここの差を検定したい</a:t>
            </a:r>
          </a:p>
        </p:txBody>
      </p:sp>
    </p:spTree>
    <p:extLst>
      <p:ext uri="{BB962C8B-B14F-4D97-AF65-F5344CB8AC3E}">
        <p14:creationId xmlns:p14="http://schemas.microsoft.com/office/powerpoint/2010/main" val="4105149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F211BAF-CFA8-A57F-531F-9465E70D3EB7}"/>
              </a:ext>
            </a:extLst>
          </p:cNvPr>
          <p:cNvSpPr/>
          <p:nvPr/>
        </p:nvSpPr>
        <p:spPr>
          <a:xfrm>
            <a:off x="7134225" y="2752725"/>
            <a:ext cx="1714500" cy="8763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目的変数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CCC4F8D-BEC8-2D72-9D40-187D5ABBFD81}"/>
              </a:ext>
            </a:extLst>
          </p:cNvPr>
          <p:cNvSpPr/>
          <p:nvPr/>
        </p:nvSpPr>
        <p:spPr>
          <a:xfrm>
            <a:off x="3810000" y="1952625"/>
            <a:ext cx="1714500" cy="8763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説明変数</a:t>
            </a:r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445C0A7-1E9B-E033-BA6B-0026613A0766}"/>
              </a:ext>
            </a:extLst>
          </p:cNvPr>
          <p:cNvSpPr/>
          <p:nvPr/>
        </p:nvSpPr>
        <p:spPr>
          <a:xfrm>
            <a:off x="3810000" y="3524250"/>
            <a:ext cx="1714500" cy="8763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説明変数</a:t>
            </a:r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C705B9C7-DF8B-E6FE-5B90-C5A22C18ED49}"/>
              </a:ext>
            </a:extLst>
          </p:cNvPr>
          <p:cNvCxnSpPr>
            <a:stCxn id="5" idx="3"/>
          </p:cNvCxnSpPr>
          <p:nvPr/>
        </p:nvCxnSpPr>
        <p:spPr>
          <a:xfrm>
            <a:off x="5524500" y="2390775"/>
            <a:ext cx="1609725" cy="685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7CB57F55-87DC-029B-EA1F-90F9C02A4177}"/>
              </a:ext>
            </a:extLst>
          </p:cNvPr>
          <p:cNvCxnSpPr>
            <a:stCxn id="6" idx="3"/>
            <a:endCxn id="4" idx="1"/>
          </p:cNvCxnSpPr>
          <p:nvPr/>
        </p:nvCxnSpPr>
        <p:spPr>
          <a:xfrm flipV="1">
            <a:off x="5524500" y="3190875"/>
            <a:ext cx="1609725" cy="771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1D3C3E0-669A-04AB-4AB9-13D009AAD67B}"/>
              </a:ext>
            </a:extLst>
          </p:cNvPr>
          <p:cNvSpPr txBox="1"/>
          <p:nvPr/>
        </p:nvSpPr>
        <p:spPr>
          <a:xfrm>
            <a:off x="4519910" y="4695825"/>
            <a:ext cx="461665" cy="8763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ja-JP" altLang="en-US" dirty="0"/>
              <a:t>・・・</a:t>
            </a:r>
          </a:p>
        </p:txBody>
      </p:sp>
    </p:spTree>
    <p:extLst>
      <p:ext uri="{BB962C8B-B14F-4D97-AF65-F5344CB8AC3E}">
        <p14:creationId xmlns:p14="http://schemas.microsoft.com/office/powerpoint/2010/main" val="915393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F211BAF-CFA8-A57F-531F-9465E70D3EB7}"/>
              </a:ext>
            </a:extLst>
          </p:cNvPr>
          <p:cNvSpPr/>
          <p:nvPr/>
        </p:nvSpPr>
        <p:spPr>
          <a:xfrm>
            <a:off x="7134225" y="2886075"/>
            <a:ext cx="2476500" cy="8763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目的変数：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厚揚げ購入頻度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CCC4F8D-BEC8-2D72-9D40-187D5ABBFD81}"/>
              </a:ext>
            </a:extLst>
          </p:cNvPr>
          <p:cNvSpPr/>
          <p:nvPr/>
        </p:nvSpPr>
        <p:spPr>
          <a:xfrm>
            <a:off x="2981325" y="2333624"/>
            <a:ext cx="2371725" cy="198120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説明変数：県</a:t>
            </a:r>
            <a:endParaRPr kumimoji="1" lang="en-US" altLang="ja-JP" dirty="0"/>
          </a:p>
          <a:p>
            <a:pPr algn="ctr"/>
            <a:endParaRPr kumimoji="1" lang="en-US" altLang="ja-JP" dirty="0"/>
          </a:p>
          <a:p>
            <a:pPr algn="ctr"/>
            <a:r>
              <a:rPr kumimoji="1" lang="ja-JP" altLang="en-US" dirty="0"/>
              <a:t>水準：</a:t>
            </a:r>
            <a:br>
              <a:rPr kumimoji="1" lang="en-US" altLang="ja-JP" dirty="0"/>
            </a:br>
            <a:r>
              <a:rPr kumimoji="1" lang="ja-JP" altLang="en-US" dirty="0"/>
              <a:t>福井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石川</a:t>
            </a:r>
            <a:br>
              <a:rPr kumimoji="1" lang="en-US" altLang="ja-JP" dirty="0"/>
            </a:br>
            <a:r>
              <a:rPr kumimoji="1" lang="ja-JP" altLang="en-US" dirty="0"/>
              <a:t>富山</a:t>
            </a: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C705B9C7-DF8B-E6FE-5B90-C5A22C18ED49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5353050" y="3324225"/>
            <a:ext cx="17811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780364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1E12261-89B1-F2A3-34A0-BBE7B31A48CA}"/>
              </a:ext>
            </a:extLst>
          </p:cNvPr>
          <p:cNvSpPr/>
          <p:nvPr/>
        </p:nvSpPr>
        <p:spPr>
          <a:xfrm>
            <a:off x="6934200" y="2990850"/>
            <a:ext cx="2476500" cy="8763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目的変数：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厚揚げ購入頻度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C2650BC-2D2B-5AF3-86DA-8F1504AF3245}"/>
              </a:ext>
            </a:extLst>
          </p:cNvPr>
          <p:cNvSpPr/>
          <p:nvPr/>
        </p:nvSpPr>
        <p:spPr>
          <a:xfrm>
            <a:off x="2514600" y="1695449"/>
            <a:ext cx="2371725" cy="14859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説明変数</a:t>
            </a:r>
            <a:r>
              <a:rPr kumimoji="1" lang="en-US" altLang="ja-JP" dirty="0"/>
              <a:t>1</a:t>
            </a:r>
            <a:r>
              <a:rPr kumimoji="1" lang="ja-JP" altLang="en-US" dirty="0"/>
              <a:t>：</a:t>
            </a:r>
            <a:br>
              <a:rPr kumimoji="1" lang="en-US" altLang="ja-JP" dirty="0"/>
            </a:br>
            <a:r>
              <a:rPr kumimoji="1" lang="ja-JP" altLang="en-US" dirty="0"/>
              <a:t>パンの種類</a:t>
            </a:r>
            <a:endParaRPr kumimoji="1" lang="en-US" altLang="ja-JP" dirty="0"/>
          </a:p>
          <a:p>
            <a:pPr algn="ctr"/>
            <a:endParaRPr kumimoji="1" lang="en-US" altLang="ja-JP" dirty="0"/>
          </a:p>
          <a:p>
            <a:pPr algn="ctr"/>
            <a:r>
              <a:rPr kumimoji="1" lang="ja-JP" altLang="en-US" dirty="0"/>
              <a:t>水準：</a:t>
            </a:r>
            <a:r>
              <a:rPr kumimoji="1" lang="en-US" altLang="ja-JP" dirty="0"/>
              <a:t>A</a:t>
            </a:r>
            <a:r>
              <a:rPr lang="en-US" altLang="ja-JP" dirty="0"/>
              <a:t>,B,C</a:t>
            </a: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78716ED2-DF3B-D92E-7BD8-3AA09D91A477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4886325" y="2438399"/>
            <a:ext cx="2047875" cy="9906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BC8A939-E168-8640-4151-6E3418F38040}"/>
              </a:ext>
            </a:extLst>
          </p:cNvPr>
          <p:cNvSpPr/>
          <p:nvPr/>
        </p:nvSpPr>
        <p:spPr>
          <a:xfrm>
            <a:off x="2514600" y="3724276"/>
            <a:ext cx="2371725" cy="14859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説明変数</a:t>
            </a:r>
            <a:r>
              <a:rPr kumimoji="1" lang="en-US" altLang="ja-JP" dirty="0"/>
              <a:t>2</a:t>
            </a:r>
            <a:r>
              <a:rPr kumimoji="1" lang="ja-JP" altLang="en-US" dirty="0"/>
              <a:t>：</a:t>
            </a:r>
            <a:br>
              <a:rPr kumimoji="1" lang="en-US" altLang="ja-JP" dirty="0"/>
            </a:br>
            <a:r>
              <a:rPr kumimoji="1" lang="ja-JP" altLang="en-US" dirty="0"/>
              <a:t>被験者</a:t>
            </a:r>
            <a:r>
              <a:rPr kumimoji="1" lang="en-US" altLang="ja-JP" dirty="0"/>
              <a:t>No.</a:t>
            </a:r>
          </a:p>
          <a:p>
            <a:pPr algn="ctr"/>
            <a:endParaRPr kumimoji="1" lang="en-US" altLang="ja-JP" dirty="0"/>
          </a:p>
          <a:p>
            <a:pPr algn="ctr"/>
            <a:r>
              <a:rPr kumimoji="1" lang="ja-JP" altLang="en-US" dirty="0"/>
              <a:t>水準：</a:t>
            </a:r>
            <a:r>
              <a:rPr kumimoji="1" lang="en-US" altLang="ja-JP" dirty="0"/>
              <a:t>1,2,</a:t>
            </a:r>
            <a:r>
              <a:rPr kumimoji="1" lang="ja-JP" altLang="en-US" dirty="0"/>
              <a:t>・・・</a:t>
            </a:r>
            <a:r>
              <a:rPr kumimoji="1" lang="en-US" altLang="ja-JP" dirty="0"/>
              <a:t>20</a:t>
            </a:r>
            <a:endParaRPr lang="en-US" altLang="ja-JP" dirty="0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3692A9EC-9D53-BBF8-6010-1B3560DD9FC6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 flipV="1">
            <a:off x="4886325" y="3429000"/>
            <a:ext cx="2047875" cy="10382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241106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1E12261-89B1-F2A3-34A0-BBE7B31A48CA}"/>
              </a:ext>
            </a:extLst>
          </p:cNvPr>
          <p:cNvSpPr/>
          <p:nvPr/>
        </p:nvSpPr>
        <p:spPr>
          <a:xfrm>
            <a:off x="6934200" y="2916936"/>
            <a:ext cx="2476500" cy="102412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目的変数：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収穫量</a:t>
            </a:r>
            <a:endParaRPr kumimoji="1" lang="en-US" altLang="ja-JP" dirty="0"/>
          </a:p>
          <a:p>
            <a:pPr algn="ctr"/>
            <a:r>
              <a:rPr lang="ja-JP" altLang="en-US" dirty="0"/>
              <a:t>（連続変数）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C2650BC-2D2B-5AF3-86DA-8F1504AF3245}"/>
              </a:ext>
            </a:extLst>
          </p:cNvPr>
          <p:cNvSpPr/>
          <p:nvPr/>
        </p:nvSpPr>
        <p:spPr>
          <a:xfrm>
            <a:off x="2514600" y="1695449"/>
            <a:ext cx="2371725" cy="14859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説明変数</a:t>
            </a:r>
            <a:r>
              <a:rPr kumimoji="1" lang="en-US" altLang="ja-JP" dirty="0"/>
              <a:t>1</a:t>
            </a:r>
            <a:r>
              <a:rPr kumimoji="1" lang="ja-JP" altLang="en-US" dirty="0"/>
              <a:t>：</a:t>
            </a:r>
            <a:br>
              <a:rPr kumimoji="1" lang="en-US" altLang="ja-JP" dirty="0"/>
            </a:br>
            <a:r>
              <a:rPr kumimoji="1" lang="ja-JP" altLang="en-US" dirty="0"/>
              <a:t>小麦品種</a:t>
            </a:r>
            <a:endParaRPr kumimoji="1" lang="en-US" altLang="ja-JP" dirty="0"/>
          </a:p>
          <a:p>
            <a:pPr algn="ctr"/>
            <a:endParaRPr kumimoji="1" lang="en-US" altLang="ja-JP" sz="500" dirty="0"/>
          </a:p>
          <a:p>
            <a:pPr algn="ctr"/>
            <a:r>
              <a:rPr kumimoji="1" lang="ja-JP" altLang="en-US" dirty="0"/>
              <a:t>水準：</a:t>
            </a:r>
            <a:r>
              <a:rPr kumimoji="1" lang="en-US" altLang="ja-JP" dirty="0"/>
              <a:t>A</a:t>
            </a:r>
            <a:r>
              <a:rPr lang="en-US" altLang="ja-JP" dirty="0"/>
              <a:t>,B</a:t>
            </a: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78716ED2-DF3B-D92E-7BD8-3AA09D91A477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4886325" y="2438399"/>
            <a:ext cx="2047875" cy="9906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BC8A939-E168-8640-4151-6E3418F38040}"/>
              </a:ext>
            </a:extLst>
          </p:cNvPr>
          <p:cNvSpPr/>
          <p:nvPr/>
        </p:nvSpPr>
        <p:spPr>
          <a:xfrm>
            <a:off x="2514600" y="3724276"/>
            <a:ext cx="2371725" cy="14859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説明変数</a:t>
            </a:r>
            <a:r>
              <a:rPr kumimoji="1" lang="en-US" altLang="ja-JP" dirty="0"/>
              <a:t>2</a:t>
            </a:r>
            <a:r>
              <a:rPr kumimoji="1" lang="ja-JP" altLang="en-US" dirty="0"/>
              <a:t>：</a:t>
            </a:r>
            <a:br>
              <a:rPr kumimoji="1" lang="en-US" altLang="ja-JP" dirty="0"/>
            </a:br>
            <a:r>
              <a:rPr kumimoji="1" lang="ja-JP" altLang="en-US" dirty="0"/>
              <a:t>肥料</a:t>
            </a:r>
            <a:endParaRPr kumimoji="1" lang="en-US" altLang="ja-JP" dirty="0"/>
          </a:p>
          <a:p>
            <a:pPr algn="ctr"/>
            <a:endParaRPr kumimoji="1" lang="en-US" altLang="ja-JP" sz="900" dirty="0"/>
          </a:p>
          <a:p>
            <a:pPr algn="ctr"/>
            <a:r>
              <a:rPr kumimoji="1" lang="ja-JP" altLang="en-US" dirty="0"/>
              <a:t>水準：</a:t>
            </a:r>
            <a:r>
              <a:rPr kumimoji="1" lang="en-US" altLang="ja-JP" dirty="0"/>
              <a:t>X,</a:t>
            </a:r>
            <a:r>
              <a:rPr kumimoji="1" lang="ja-JP" altLang="en-US" dirty="0"/>
              <a:t> </a:t>
            </a:r>
            <a:r>
              <a:rPr kumimoji="1" lang="en-US" altLang="ja-JP" dirty="0"/>
              <a:t>Y</a:t>
            </a:r>
            <a:endParaRPr lang="en-US" altLang="ja-JP" dirty="0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3692A9EC-9D53-BBF8-6010-1B3560DD9FC6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 flipV="1">
            <a:off x="4886325" y="3429000"/>
            <a:ext cx="2047875" cy="10382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192949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1E12261-89B1-F2A3-34A0-BBE7B31A48CA}"/>
              </a:ext>
            </a:extLst>
          </p:cNvPr>
          <p:cNvSpPr/>
          <p:nvPr/>
        </p:nvSpPr>
        <p:spPr>
          <a:xfrm>
            <a:off x="6934200" y="2916936"/>
            <a:ext cx="2476500" cy="102412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目的変数：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収穫量</a:t>
            </a:r>
            <a:endParaRPr kumimoji="1" lang="en-US" altLang="ja-JP" dirty="0"/>
          </a:p>
          <a:p>
            <a:pPr algn="ctr"/>
            <a:r>
              <a:rPr lang="ja-JP" altLang="en-US" dirty="0"/>
              <a:t>（連続変数）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C2650BC-2D2B-5AF3-86DA-8F1504AF3245}"/>
              </a:ext>
            </a:extLst>
          </p:cNvPr>
          <p:cNvSpPr/>
          <p:nvPr/>
        </p:nvSpPr>
        <p:spPr>
          <a:xfrm>
            <a:off x="2514600" y="1695449"/>
            <a:ext cx="2371725" cy="14859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説明変数</a:t>
            </a:r>
            <a:r>
              <a:rPr kumimoji="1" lang="en-US" altLang="ja-JP" dirty="0"/>
              <a:t>1</a:t>
            </a:r>
            <a:r>
              <a:rPr kumimoji="1" lang="ja-JP" altLang="en-US" dirty="0"/>
              <a:t>：</a:t>
            </a:r>
            <a:br>
              <a:rPr kumimoji="1" lang="en-US" altLang="ja-JP" dirty="0"/>
            </a:br>
            <a:r>
              <a:rPr kumimoji="1" lang="ja-JP" altLang="en-US" dirty="0"/>
              <a:t>小麦品種</a:t>
            </a:r>
            <a:endParaRPr kumimoji="1" lang="en-US" altLang="ja-JP" dirty="0"/>
          </a:p>
          <a:p>
            <a:pPr algn="ctr"/>
            <a:endParaRPr kumimoji="1" lang="en-US" altLang="ja-JP" sz="500" dirty="0"/>
          </a:p>
          <a:p>
            <a:pPr algn="ctr"/>
            <a:r>
              <a:rPr kumimoji="1" lang="ja-JP" altLang="en-US" dirty="0"/>
              <a:t>水準：</a:t>
            </a:r>
            <a:r>
              <a:rPr kumimoji="1" lang="en-US" altLang="ja-JP" dirty="0"/>
              <a:t>A</a:t>
            </a:r>
            <a:r>
              <a:rPr lang="en-US" altLang="ja-JP" dirty="0"/>
              <a:t>,B</a:t>
            </a: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78716ED2-DF3B-D92E-7BD8-3AA09D91A477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4886325" y="2438399"/>
            <a:ext cx="2047875" cy="9906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BC8A939-E168-8640-4151-6E3418F38040}"/>
              </a:ext>
            </a:extLst>
          </p:cNvPr>
          <p:cNvSpPr/>
          <p:nvPr/>
        </p:nvSpPr>
        <p:spPr>
          <a:xfrm>
            <a:off x="2514600" y="3724276"/>
            <a:ext cx="2371725" cy="14859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説明変数</a:t>
            </a:r>
            <a:r>
              <a:rPr kumimoji="1" lang="en-US" altLang="ja-JP" dirty="0"/>
              <a:t>2</a:t>
            </a:r>
            <a:r>
              <a:rPr kumimoji="1" lang="ja-JP" altLang="en-US" dirty="0"/>
              <a:t>：</a:t>
            </a:r>
            <a:br>
              <a:rPr kumimoji="1" lang="en-US" altLang="ja-JP" dirty="0"/>
            </a:br>
            <a:r>
              <a:rPr kumimoji="1" lang="ja-JP" altLang="en-US" dirty="0"/>
              <a:t>肥料</a:t>
            </a:r>
            <a:endParaRPr kumimoji="1" lang="en-US" altLang="ja-JP" dirty="0"/>
          </a:p>
          <a:p>
            <a:pPr algn="ctr"/>
            <a:endParaRPr kumimoji="1" lang="en-US" altLang="ja-JP" sz="900" dirty="0"/>
          </a:p>
          <a:p>
            <a:pPr algn="ctr"/>
            <a:r>
              <a:rPr kumimoji="1" lang="ja-JP" altLang="en-US" dirty="0"/>
              <a:t>水準：</a:t>
            </a:r>
            <a:r>
              <a:rPr kumimoji="1" lang="en-US" altLang="ja-JP" dirty="0"/>
              <a:t>X,</a:t>
            </a:r>
            <a:r>
              <a:rPr kumimoji="1" lang="ja-JP" altLang="en-US" dirty="0"/>
              <a:t> </a:t>
            </a:r>
            <a:r>
              <a:rPr kumimoji="1" lang="en-US" altLang="ja-JP" dirty="0"/>
              <a:t>Y</a:t>
            </a:r>
            <a:endParaRPr lang="en-US" altLang="ja-JP" dirty="0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3692A9EC-9D53-BBF8-6010-1B3560DD9FC6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 flipV="1">
            <a:off x="4886325" y="3429000"/>
            <a:ext cx="2047875" cy="10382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2" name="楕円 1"/>
          <p:cNvSpPr/>
          <p:nvPr/>
        </p:nvSpPr>
        <p:spPr>
          <a:xfrm flipH="1" flipV="1">
            <a:off x="5475544" y="3303844"/>
            <a:ext cx="272794" cy="27279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/>
          <p:cNvCxnSpPr>
            <a:stCxn id="5" idx="3"/>
            <a:endCxn id="2" idx="5"/>
          </p:cNvCxnSpPr>
          <p:nvPr/>
        </p:nvCxnSpPr>
        <p:spPr>
          <a:xfrm>
            <a:off x="4886325" y="2438399"/>
            <a:ext cx="629169" cy="90539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/>
          <p:cNvCxnSpPr>
            <a:stCxn id="9" idx="3"/>
            <a:endCxn id="2" idx="7"/>
          </p:cNvCxnSpPr>
          <p:nvPr/>
        </p:nvCxnSpPr>
        <p:spPr>
          <a:xfrm flipV="1">
            <a:off x="4886325" y="3536688"/>
            <a:ext cx="629169" cy="93053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/>
          <p:cNvCxnSpPr>
            <a:stCxn id="2" idx="2"/>
            <a:endCxn id="4" idx="1"/>
          </p:cNvCxnSpPr>
          <p:nvPr/>
        </p:nvCxnSpPr>
        <p:spPr>
          <a:xfrm flipV="1">
            <a:off x="5748338" y="3429000"/>
            <a:ext cx="1185862" cy="11241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/>
          <p:cNvCxnSpPr>
            <a:stCxn id="2" idx="5"/>
            <a:endCxn id="2" idx="1"/>
          </p:cNvCxnSpPr>
          <p:nvPr/>
        </p:nvCxnSpPr>
        <p:spPr>
          <a:xfrm>
            <a:off x="5515494" y="3343794"/>
            <a:ext cx="192894" cy="1928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/>
          <p:cNvCxnSpPr>
            <a:stCxn id="2" idx="3"/>
            <a:endCxn id="2" idx="7"/>
          </p:cNvCxnSpPr>
          <p:nvPr/>
        </p:nvCxnSpPr>
        <p:spPr>
          <a:xfrm flipH="1">
            <a:off x="5515494" y="3343794"/>
            <a:ext cx="192894" cy="1928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6814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1E12261-89B1-F2A3-34A0-BBE7B31A48CA}"/>
              </a:ext>
            </a:extLst>
          </p:cNvPr>
          <p:cNvSpPr/>
          <p:nvPr/>
        </p:nvSpPr>
        <p:spPr>
          <a:xfrm>
            <a:off x="6810375" y="1376173"/>
            <a:ext cx="2476500" cy="102412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目的変数：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収穫量</a:t>
            </a:r>
            <a:endParaRPr kumimoji="1" lang="en-US" altLang="ja-JP" dirty="0"/>
          </a:p>
          <a:p>
            <a:pPr algn="ctr"/>
            <a:r>
              <a:rPr lang="ja-JP" altLang="en-US" dirty="0"/>
              <a:t>（連続変数）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BC8A939-E168-8640-4151-6E3418F38040}"/>
              </a:ext>
            </a:extLst>
          </p:cNvPr>
          <p:cNvSpPr/>
          <p:nvPr/>
        </p:nvSpPr>
        <p:spPr>
          <a:xfrm>
            <a:off x="2914650" y="1145287"/>
            <a:ext cx="2371725" cy="14859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説明変数</a:t>
            </a:r>
            <a:r>
              <a:rPr kumimoji="1" lang="en-US" altLang="ja-JP" dirty="0"/>
              <a:t>2</a:t>
            </a:r>
            <a:r>
              <a:rPr kumimoji="1" lang="ja-JP" altLang="en-US" dirty="0"/>
              <a:t>：</a:t>
            </a:r>
            <a:br>
              <a:rPr kumimoji="1" lang="en-US" altLang="ja-JP" dirty="0"/>
            </a:br>
            <a:r>
              <a:rPr kumimoji="1" lang="ja-JP" altLang="en-US" dirty="0"/>
              <a:t>肥料</a:t>
            </a:r>
            <a:endParaRPr kumimoji="1" lang="en-US" altLang="ja-JP" dirty="0"/>
          </a:p>
          <a:p>
            <a:pPr algn="ctr"/>
            <a:endParaRPr kumimoji="1" lang="en-US" altLang="ja-JP" sz="900" dirty="0"/>
          </a:p>
          <a:p>
            <a:pPr algn="ctr"/>
            <a:r>
              <a:rPr kumimoji="1" lang="ja-JP" altLang="en-US" dirty="0"/>
              <a:t>水準：</a:t>
            </a:r>
            <a:r>
              <a:rPr kumimoji="1" lang="en-US" altLang="ja-JP" dirty="0"/>
              <a:t>X,</a:t>
            </a:r>
            <a:r>
              <a:rPr kumimoji="1" lang="ja-JP" altLang="en-US" dirty="0"/>
              <a:t> </a:t>
            </a:r>
            <a:r>
              <a:rPr kumimoji="1" lang="en-US" altLang="ja-JP" dirty="0"/>
              <a:t>Y</a:t>
            </a:r>
            <a:endParaRPr lang="en-US" altLang="ja-JP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1E12261-89B1-F2A3-34A0-BBE7B31A48CA}"/>
              </a:ext>
            </a:extLst>
          </p:cNvPr>
          <p:cNvSpPr/>
          <p:nvPr/>
        </p:nvSpPr>
        <p:spPr>
          <a:xfrm>
            <a:off x="6810375" y="3659886"/>
            <a:ext cx="2476500" cy="102412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目的変数：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収穫量</a:t>
            </a:r>
            <a:endParaRPr kumimoji="1" lang="en-US" altLang="ja-JP" dirty="0"/>
          </a:p>
          <a:p>
            <a:pPr algn="ctr"/>
            <a:r>
              <a:rPr lang="ja-JP" altLang="en-US" dirty="0"/>
              <a:t>（連続変数）</a:t>
            </a:r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BC8A939-E168-8640-4151-6E3418F38040}"/>
              </a:ext>
            </a:extLst>
          </p:cNvPr>
          <p:cNvSpPr/>
          <p:nvPr/>
        </p:nvSpPr>
        <p:spPr>
          <a:xfrm>
            <a:off x="2914650" y="3429000"/>
            <a:ext cx="2371725" cy="14859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説明変数</a:t>
            </a:r>
            <a:r>
              <a:rPr kumimoji="1" lang="en-US" altLang="ja-JP" dirty="0"/>
              <a:t>2</a:t>
            </a:r>
            <a:r>
              <a:rPr kumimoji="1" lang="ja-JP" altLang="en-US" dirty="0"/>
              <a:t>：</a:t>
            </a:r>
            <a:br>
              <a:rPr kumimoji="1" lang="en-US" altLang="ja-JP" dirty="0"/>
            </a:br>
            <a:r>
              <a:rPr kumimoji="1" lang="ja-JP" altLang="en-US" dirty="0"/>
              <a:t>肥料</a:t>
            </a:r>
            <a:endParaRPr kumimoji="1" lang="en-US" altLang="ja-JP" dirty="0"/>
          </a:p>
          <a:p>
            <a:pPr algn="ctr"/>
            <a:endParaRPr kumimoji="1" lang="en-US" altLang="ja-JP" sz="900" dirty="0"/>
          </a:p>
          <a:p>
            <a:pPr algn="ctr"/>
            <a:r>
              <a:rPr kumimoji="1" lang="ja-JP" altLang="en-US" dirty="0"/>
              <a:t>水準：</a:t>
            </a:r>
            <a:r>
              <a:rPr kumimoji="1" lang="en-US" altLang="ja-JP" dirty="0"/>
              <a:t>X,</a:t>
            </a:r>
            <a:r>
              <a:rPr kumimoji="1" lang="ja-JP" altLang="en-US" dirty="0"/>
              <a:t> </a:t>
            </a:r>
            <a:r>
              <a:rPr kumimoji="1" lang="en-US" altLang="ja-JP" dirty="0"/>
              <a:t>Y</a:t>
            </a:r>
            <a:endParaRPr lang="en-US" altLang="ja-JP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362200" y="3048000"/>
            <a:ext cx="245745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品種：</a:t>
            </a:r>
            <a:r>
              <a:rPr kumimoji="1" lang="en-US" altLang="ja-JP" dirty="0"/>
              <a:t>B</a:t>
            </a:r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2362200" y="764287"/>
            <a:ext cx="245745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品種：</a:t>
            </a:r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78716ED2-DF3B-D92E-7BD8-3AA09D91A477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5286375" y="1888237"/>
            <a:ext cx="15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78716ED2-DF3B-D92E-7BD8-3AA09D91A477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>
            <a:off x="5286375" y="4171950"/>
            <a:ext cx="15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769999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1E12261-89B1-F2A3-34A0-BBE7B31A48CA}"/>
              </a:ext>
            </a:extLst>
          </p:cNvPr>
          <p:cNvSpPr/>
          <p:nvPr/>
        </p:nvSpPr>
        <p:spPr>
          <a:xfrm>
            <a:off x="6810375" y="1376173"/>
            <a:ext cx="2476500" cy="102412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目的変数：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収穫量</a:t>
            </a:r>
            <a:endParaRPr kumimoji="1" lang="en-US" altLang="ja-JP" dirty="0"/>
          </a:p>
          <a:p>
            <a:pPr algn="ctr"/>
            <a:r>
              <a:rPr lang="ja-JP" altLang="en-US" dirty="0"/>
              <a:t>（連続変数）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BC8A939-E168-8640-4151-6E3418F38040}"/>
              </a:ext>
            </a:extLst>
          </p:cNvPr>
          <p:cNvSpPr/>
          <p:nvPr/>
        </p:nvSpPr>
        <p:spPr>
          <a:xfrm>
            <a:off x="2914650" y="1145287"/>
            <a:ext cx="2371725" cy="14859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説明変数</a:t>
            </a:r>
            <a:r>
              <a:rPr lang="en-US" altLang="ja-JP" dirty="0"/>
              <a:t>1</a:t>
            </a:r>
            <a:r>
              <a:rPr lang="ja-JP" altLang="en-US" dirty="0"/>
              <a:t>：</a:t>
            </a:r>
            <a:br>
              <a:rPr lang="en-US" altLang="ja-JP" dirty="0"/>
            </a:br>
            <a:r>
              <a:rPr lang="ja-JP" altLang="en-US" dirty="0"/>
              <a:t>小麦品種</a:t>
            </a:r>
            <a:endParaRPr lang="en-US" altLang="ja-JP" dirty="0"/>
          </a:p>
          <a:p>
            <a:pPr algn="ctr"/>
            <a:endParaRPr lang="en-US" altLang="ja-JP" sz="500" dirty="0"/>
          </a:p>
          <a:p>
            <a:pPr algn="ctr"/>
            <a:r>
              <a:rPr lang="ja-JP" altLang="en-US" dirty="0"/>
              <a:t>水準：</a:t>
            </a:r>
            <a:r>
              <a:rPr lang="en-US" altLang="ja-JP" dirty="0"/>
              <a:t>A,B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1E12261-89B1-F2A3-34A0-BBE7B31A48CA}"/>
              </a:ext>
            </a:extLst>
          </p:cNvPr>
          <p:cNvSpPr/>
          <p:nvPr/>
        </p:nvSpPr>
        <p:spPr>
          <a:xfrm>
            <a:off x="6810375" y="3659886"/>
            <a:ext cx="2476500" cy="102412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目的変数：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収穫量</a:t>
            </a:r>
            <a:endParaRPr kumimoji="1" lang="en-US" altLang="ja-JP" dirty="0"/>
          </a:p>
          <a:p>
            <a:pPr algn="ctr"/>
            <a:r>
              <a:rPr lang="ja-JP" altLang="en-US" dirty="0"/>
              <a:t>（連続変数）</a:t>
            </a:r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BC8A939-E168-8640-4151-6E3418F38040}"/>
              </a:ext>
            </a:extLst>
          </p:cNvPr>
          <p:cNvSpPr/>
          <p:nvPr/>
        </p:nvSpPr>
        <p:spPr>
          <a:xfrm>
            <a:off x="2914650" y="3429000"/>
            <a:ext cx="2371725" cy="14859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説明変数</a:t>
            </a:r>
            <a:r>
              <a:rPr lang="en-US" altLang="ja-JP" dirty="0"/>
              <a:t>1</a:t>
            </a:r>
            <a:r>
              <a:rPr lang="ja-JP" altLang="en-US" dirty="0"/>
              <a:t>：</a:t>
            </a:r>
            <a:br>
              <a:rPr lang="en-US" altLang="ja-JP" dirty="0"/>
            </a:br>
            <a:r>
              <a:rPr lang="ja-JP" altLang="en-US" dirty="0"/>
              <a:t>小麦品種</a:t>
            </a:r>
            <a:endParaRPr lang="en-US" altLang="ja-JP" dirty="0"/>
          </a:p>
          <a:p>
            <a:pPr algn="ctr"/>
            <a:endParaRPr lang="en-US" altLang="ja-JP" sz="500" dirty="0"/>
          </a:p>
          <a:p>
            <a:pPr algn="ctr"/>
            <a:r>
              <a:rPr lang="ja-JP" altLang="en-US" dirty="0"/>
              <a:t>水準：</a:t>
            </a:r>
            <a:r>
              <a:rPr lang="en-US" altLang="ja-JP" dirty="0"/>
              <a:t>A,B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362200" y="3048000"/>
            <a:ext cx="245745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肥料：</a:t>
            </a:r>
            <a:r>
              <a:rPr kumimoji="1" lang="en-US" altLang="ja-JP" dirty="0"/>
              <a:t>Y</a:t>
            </a:r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2362200" y="764287"/>
            <a:ext cx="245745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肥料：</a:t>
            </a:r>
            <a:r>
              <a:rPr kumimoji="1" lang="en-US" altLang="ja-JP" dirty="0"/>
              <a:t>X</a:t>
            </a:r>
            <a:endParaRPr kumimoji="1" lang="ja-JP" altLang="en-US" dirty="0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78716ED2-DF3B-D92E-7BD8-3AA09D91A477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5286375" y="1888237"/>
            <a:ext cx="15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78716ED2-DF3B-D92E-7BD8-3AA09D91A477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>
            <a:off x="5286375" y="4171950"/>
            <a:ext cx="15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855490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楕円 18"/>
          <p:cNvSpPr/>
          <p:nvPr/>
        </p:nvSpPr>
        <p:spPr>
          <a:xfrm flipH="1" flipV="1">
            <a:off x="5475544" y="3303844"/>
            <a:ext cx="272794" cy="272794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1E12261-89B1-F2A3-34A0-BBE7B31A48CA}"/>
              </a:ext>
            </a:extLst>
          </p:cNvPr>
          <p:cNvSpPr/>
          <p:nvPr/>
        </p:nvSpPr>
        <p:spPr>
          <a:xfrm>
            <a:off x="6934200" y="2990850"/>
            <a:ext cx="2476500" cy="8763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目的変数：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厚揚げ購入頻度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C2650BC-2D2B-5AF3-86DA-8F1504AF3245}"/>
              </a:ext>
            </a:extLst>
          </p:cNvPr>
          <p:cNvSpPr/>
          <p:nvPr/>
        </p:nvSpPr>
        <p:spPr>
          <a:xfrm>
            <a:off x="2514600" y="1695449"/>
            <a:ext cx="2371725" cy="14859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説明変数</a:t>
            </a:r>
            <a:r>
              <a:rPr kumimoji="1" lang="en-US" altLang="ja-JP" dirty="0"/>
              <a:t>1</a:t>
            </a:r>
            <a:r>
              <a:rPr kumimoji="1" lang="ja-JP" altLang="en-US" dirty="0"/>
              <a:t>：</a:t>
            </a:r>
            <a:br>
              <a:rPr kumimoji="1" lang="en-US" altLang="ja-JP" dirty="0"/>
            </a:br>
            <a:r>
              <a:rPr kumimoji="1" lang="ja-JP" altLang="en-US" dirty="0"/>
              <a:t>パンの種類</a:t>
            </a:r>
            <a:endParaRPr kumimoji="1" lang="en-US" altLang="ja-JP" dirty="0"/>
          </a:p>
          <a:p>
            <a:pPr algn="ctr"/>
            <a:endParaRPr kumimoji="1" lang="en-US" altLang="ja-JP" dirty="0"/>
          </a:p>
          <a:p>
            <a:pPr algn="ctr"/>
            <a:r>
              <a:rPr kumimoji="1" lang="ja-JP" altLang="en-US" dirty="0"/>
              <a:t>水準：</a:t>
            </a:r>
            <a:r>
              <a:rPr kumimoji="1" lang="en-US" altLang="ja-JP" dirty="0"/>
              <a:t>A</a:t>
            </a:r>
            <a:r>
              <a:rPr lang="en-US" altLang="ja-JP" dirty="0"/>
              <a:t>,B,C</a:t>
            </a: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78716ED2-DF3B-D92E-7BD8-3AA09D91A477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4886325" y="2438399"/>
            <a:ext cx="2047875" cy="9906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BC8A939-E168-8640-4151-6E3418F38040}"/>
              </a:ext>
            </a:extLst>
          </p:cNvPr>
          <p:cNvSpPr/>
          <p:nvPr/>
        </p:nvSpPr>
        <p:spPr>
          <a:xfrm>
            <a:off x="2514600" y="3724276"/>
            <a:ext cx="2371725" cy="14859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説明変数</a:t>
            </a:r>
            <a:r>
              <a:rPr kumimoji="1" lang="en-US" altLang="ja-JP" dirty="0"/>
              <a:t>2</a:t>
            </a:r>
            <a:r>
              <a:rPr kumimoji="1" lang="ja-JP" altLang="en-US" dirty="0"/>
              <a:t>：</a:t>
            </a:r>
            <a:br>
              <a:rPr kumimoji="1" lang="en-US" altLang="ja-JP" dirty="0"/>
            </a:br>
            <a:r>
              <a:rPr kumimoji="1" lang="ja-JP" altLang="en-US" dirty="0"/>
              <a:t>苺ジャム</a:t>
            </a:r>
            <a:endParaRPr kumimoji="1" lang="en-US" altLang="ja-JP" dirty="0"/>
          </a:p>
          <a:p>
            <a:pPr algn="ctr"/>
            <a:endParaRPr kumimoji="1" lang="en-US" altLang="ja-JP" dirty="0"/>
          </a:p>
          <a:p>
            <a:pPr algn="ctr"/>
            <a:r>
              <a:rPr kumimoji="1" lang="ja-JP" altLang="en-US" dirty="0"/>
              <a:t>水準：</a:t>
            </a:r>
            <a:r>
              <a:rPr kumimoji="1" lang="en-US" altLang="ja-JP" dirty="0"/>
              <a:t>X, Y</a:t>
            </a:r>
            <a:endParaRPr lang="en-US" altLang="ja-JP" dirty="0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3692A9EC-9D53-BBF8-6010-1B3560DD9FC6}"/>
              </a:ext>
            </a:extLst>
          </p:cNvPr>
          <p:cNvCxnSpPr>
            <a:cxnSpLocks/>
            <a:stCxn id="7" idx="3"/>
            <a:endCxn id="4" idx="1"/>
          </p:cNvCxnSpPr>
          <p:nvPr/>
        </p:nvCxnSpPr>
        <p:spPr>
          <a:xfrm flipV="1">
            <a:off x="4886325" y="3429000"/>
            <a:ext cx="2047875" cy="10382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BC8A939-E168-8640-4151-6E3418F38040}"/>
              </a:ext>
            </a:extLst>
          </p:cNvPr>
          <p:cNvSpPr/>
          <p:nvPr/>
        </p:nvSpPr>
        <p:spPr>
          <a:xfrm>
            <a:off x="6986587" y="4937380"/>
            <a:ext cx="2371725" cy="14859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説明変数</a:t>
            </a:r>
            <a:r>
              <a:rPr lang="en-US" altLang="ja-JP" dirty="0"/>
              <a:t>3</a:t>
            </a:r>
            <a:r>
              <a:rPr kumimoji="1" lang="ja-JP" altLang="en-US" dirty="0"/>
              <a:t>：</a:t>
            </a:r>
            <a:br>
              <a:rPr kumimoji="1" lang="en-US" altLang="ja-JP" dirty="0"/>
            </a:br>
            <a:r>
              <a:rPr kumimoji="1" lang="ja-JP" altLang="en-US" dirty="0"/>
              <a:t>被験者</a:t>
            </a:r>
            <a:r>
              <a:rPr kumimoji="1" lang="en-US" altLang="ja-JP" dirty="0"/>
              <a:t>No.</a:t>
            </a:r>
          </a:p>
          <a:p>
            <a:pPr algn="ctr"/>
            <a:endParaRPr kumimoji="1" lang="en-US" altLang="ja-JP" dirty="0"/>
          </a:p>
          <a:p>
            <a:pPr algn="ctr"/>
            <a:r>
              <a:rPr kumimoji="1" lang="ja-JP" altLang="en-US" dirty="0"/>
              <a:t>水準：</a:t>
            </a:r>
            <a:r>
              <a:rPr kumimoji="1" lang="en-US" altLang="ja-JP" dirty="0"/>
              <a:t>1,2,</a:t>
            </a:r>
            <a:r>
              <a:rPr kumimoji="1" lang="ja-JP" altLang="en-US" dirty="0"/>
              <a:t>・・・</a:t>
            </a:r>
            <a:r>
              <a:rPr kumimoji="1" lang="en-US" altLang="ja-JP" dirty="0"/>
              <a:t>20</a:t>
            </a:r>
            <a:endParaRPr lang="en-US" altLang="ja-JP" dirty="0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3692A9EC-9D53-BBF8-6010-1B3560DD9FC6}"/>
              </a:ext>
            </a:extLst>
          </p:cNvPr>
          <p:cNvCxnSpPr>
            <a:cxnSpLocks/>
            <a:stCxn id="9" idx="0"/>
            <a:endCxn id="4" idx="2"/>
          </p:cNvCxnSpPr>
          <p:nvPr/>
        </p:nvCxnSpPr>
        <p:spPr>
          <a:xfrm flipV="1">
            <a:off x="8172450" y="3867150"/>
            <a:ext cx="0" cy="10702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14" name="直線コネクタ 13"/>
          <p:cNvCxnSpPr/>
          <p:nvPr/>
        </p:nvCxnSpPr>
        <p:spPr>
          <a:xfrm>
            <a:off x="4886325" y="2438399"/>
            <a:ext cx="629169" cy="905395"/>
          </a:xfrm>
          <a:prstGeom prst="lin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5" name="直線コネクタ 14"/>
          <p:cNvCxnSpPr/>
          <p:nvPr/>
        </p:nvCxnSpPr>
        <p:spPr>
          <a:xfrm flipV="1">
            <a:off x="4886325" y="3536688"/>
            <a:ext cx="629169" cy="930538"/>
          </a:xfrm>
          <a:prstGeom prst="lin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6" name="直線コネクタ 15"/>
          <p:cNvCxnSpPr/>
          <p:nvPr/>
        </p:nvCxnSpPr>
        <p:spPr>
          <a:xfrm flipV="1">
            <a:off x="5748338" y="3429000"/>
            <a:ext cx="1185862" cy="11241"/>
          </a:xfrm>
          <a:prstGeom prst="line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7" name="直線コネクタ 16"/>
          <p:cNvCxnSpPr/>
          <p:nvPr/>
        </p:nvCxnSpPr>
        <p:spPr>
          <a:xfrm>
            <a:off x="5515494" y="3343794"/>
            <a:ext cx="192894" cy="192894"/>
          </a:xfrm>
          <a:prstGeom prst="lin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8" name="直線コネクタ 17"/>
          <p:cNvCxnSpPr/>
          <p:nvPr/>
        </p:nvCxnSpPr>
        <p:spPr>
          <a:xfrm flipH="1">
            <a:off x="5515494" y="3343794"/>
            <a:ext cx="192894" cy="192894"/>
          </a:xfrm>
          <a:prstGeom prst="lin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3751360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相関</a:t>
            </a:r>
            <a:r>
              <a:rPr kumimoji="1" lang="en-US" altLang="ja-JP" dirty="0"/>
              <a:t>0.0513</a:t>
            </a:r>
            <a:endParaRPr kumimoji="1" lang="ja-JP" altLang="en-US" dirty="0"/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3B878235-70F5-F862-88EC-863175E059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7642" y="2132835"/>
            <a:ext cx="4889416" cy="37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651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0A3F46-1EED-5E3A-163E-0B3B7CB9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相関</a:t>
            </a:r>
            <a:r>
              <a:rPr kumimoji="1" lang="en-US" altLang="ja-JP" dirty="0"/>
              <a:t>0.200</a:t>
            </a:r>
            <a:br>
              <a:rPr kumimoji="1" lang="en-US" altLang="ja-JP" dirty="0"/>
            </a:b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3904CA60-7C01-0FD0-E53C-5A529A43F6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7642" y="2132835"/>
            <a:ext cx="4889416" cy="37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990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4D4A5E-223E-8982-C14E-80509BE1B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相関</a:t>
            </a:r>
            <a:r>
              <a:rPr kumimoji="1" lang="en-US" altLang="ja-JP" dirty="0"/>
              <a:t>0.441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75D3519-7909-7EAE-2E9B-73460C4447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7642" y="2132835"/>
            <a:ext cx="4889416" cy="37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897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8590EC-3551-7798-D26C-ACB846F74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相関</a:t>
            </a:r>
            <a:r>
              <a:rPr kumimoji="1" lang="en-US" altLang="ja-JP" dirty="0"/>
              <a:t>0.542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8F9D458B-836E-CC07-37D7-241DBA0324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7642" y="2132835"/>
            <a:ext cx="4889416" cy="37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072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8B8A56-D7B0-32F3-915D-088686A1C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相関</a:t>
            </a:r>
            <a:r>
              <a:rPr kumimoji="1" lang="en-US" altLang="ja-JP" dirty="0"/>
              <a:t>0.712</a:t>
            </a:r>
            <a:br>
              <a:rPr kumimoji="1" lang="en-US" altLang="ja-JP" dirty="0"/>
            </a:b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24F2261-F694-769C-97BE-344F1E103D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7642" y="2132835"/>
            <a:ext cx="4889416" cy="37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585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825973-7C3A-7DEF-97B0-8EB6A8D4B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1800" b="0" i="0" u="none" strike="noStrike" dirty="0">
                <a:solidFill>
                  <a:srgbClr val="000000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</a:rPr>
              <a:t>相関</a:t>
            </a:r>
            <a:r>
              <a:rPr lang="en-US" altLang="ja-JP" sz="1800" b="0" i="0" u="none" strike="noStrike" dirty="0">
                <a:solidFill>
                  <a:srgbClr val="000000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</a:rPr>
              <a:t>0.905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341D7BD3-E56B-8269-F527-303B94AF8C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7642" y="2132835"/>
            <a:ext cx="4889416" cy="37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585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76803" y="103508"/>
            <a:ext cx="4541914" cy="2828789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803" y="3428999"/>
            <a:ext cx="4541914" cy="2828789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429000"/>
            <a:ext cx="4541914" cy="2828789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03508"/>
            <a:ext cx="4541914" cy="2828789"/>
          </a:xfrm>
          <a:prstGeom prst="rect">
            <a:avLst/>
          </a:prstGeom>
        </p:spPr>
      </p:pic>
      <p:cxnSp>
        <p:nvCxnSpPr>
          <p:cNvPr id="11" name="直線矢印コネクタ 10"/>
          <p:cNvCxnSpPr>
            <a:stCxn id="9" idx="3"/>
            <a:endCxn id="4" idx="1"/>
          </p:cNvCxnSpPr>
          <p:nvPr/>
        </p:nvCxnSpPr>
        <p:spPr>
          <a:xfrm>
            <a:off x="5380114" y="1517903"/>
            <a:ext cx="10966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/>
          <p:nvPr/>
        </p:nvCxnSpPr>
        <p:spPr>
          <a:xfrm flipH="1">
            <a:off x="5380114" y="2932297"/>
            <a:ext cx="1096689" cy="4967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/>
          <p:cNvCxnSpPr>
            <a:stCxn id="4" idx="2"/>
            <a:endCxn id="6" idx="0"/>
          </p:cNvCxnSpPr>
          <p:nvPr/>
        </p:nvCxnSpPr>
        <p:spPr>
          <a:xfrm>
            <a:off x="8747760" y="2932297"/>
            <a:ext cx="0" cy="4967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/>
          <p:cNvSpPr txBox="1"/>
          <p:nvPr/>
        </p:nvSpPr>
        <p:spPr>
          <a:xfrm>
            <a:off x="838200" y="176575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相関：</a:t>
            </a:r>
            <a:r>
              <a:rPr lang="en-US" altLang="ja-JP" dirty="0"/>
              <a:t>0.023</a:t>
            </a:r>
            <a:endParaRPr kumimoji="1" lang="ja-JP" altLang="en-US" dirty="0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838200" y="3641797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相関：</a:t>
            </a:r>
            <a:r>
              <a:rPr lang="en-US" altLang="ja-JP" dirty="0"/>
              <a:t>0.464</a:t>
            </a:r>
            <a:endParaRPr kumimoji="1" lang="ja-JP" altLang="en-US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6476803" y="3641797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相関：</a:t>
            </a:r>
            <a:r>
              <a:rPr lang="en-US" altLang="ja-JP" dirty="0"/>
              <a:t>-0.416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199609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7580" y="0"/>
            <a:ext cx="11243900" cy="6733474"/>
          </a:xfrm>
          <a:prstGeom prst="rect">
            <a:avLst/>
          </a:prstGeom>
        </p:spPr>
      </p:pic>
      <p:cxnSp>
        <p:nvCxnSpPr>
          <p:cNvPr id="6" name="直線矢印コネクタ 5"/>
          <p:cNvCxnSpPr/>
          <p:nvPr/>
        </p:nvCxnSpPr>
        <p:spPr>
          <a:xfrm flipH="1" flipV="1">
            <a:off x="5376672" y="4480561"/>
            <a:ext cx="1755648" cy="749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矢印コネクタ 6"/>
          <p:cNvCxnSpPr/>
          <p:nvPr/>
        </p:nvCxnSpPr>
        <p:spPr>
          <a:xfrm flipH="1">
            <a:off x="1298448" y="5843016"/>
            <a:ext cx="5495544" cy="3474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/>
          <p:cNvCxnSpPr/>
          <p:nvPr/>
        </p:nvCxnSpPr>
        <p:spPr>
          <a:xfrm flipV="1">
            <a:off x="7790688" y="2852930"/>
            <a:ext cx="1289304" cy="2377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/>
          <p:cNvSpPr txBox="1"/>
          <p:nvPr/>
        </p:nvSpPr>
        <p:spPr>
          <a:xfrm>
            <a:off x="6922008" y="5365962"/>
            <a:ext cx="37398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これらの正規分布は</a:t>
            </a:r>
            <a:br>
              <a:rPr kumimoji="1" lang="en-US" altLang="ja-JP" dirty="0"/>
            </a:br>
            <a:r>
              <a:rPr kumimoji="1" lang="ja-JP" altLang="en-US" dirty="0"/>
              <a:t>平均値</a:t>
            </a:r>
            <a:r>
              <a:rPr kumimoji="1" lang="en-US" altLang="ja-JP" dirty="0"/>
              <a:t>=</a:t>
            </a:r>
            <a:r>
              <a:rPr kumimoji="1" lang="ja-JP" altLang="en-US" dirty="0"/>
              <a:t>予測値，</a:t>
            </a:r>
            <a:br>
              <a:rPr kumimoji="1" lang="en-US" altLang="ja-JP" dirty="0"/>
            </a:br>
            <a:r>
              <a:rPr kumimoji="1" lang="ja-JP" altLang="en-US" dirty="0"/>
              <a:t>標準偏差</a:t>
            </a:r>
            <a:r>
              <a:rPr lang="en-US" altLang="ja-JP" dirty="0"/>
              <a:t>(</a:t>
            </a:r>
            <a:r>
              <a:rPr kumimoji="1" lang="en-US" altLang="ja-JP" dirty="0"/>
              <a:t>σ</a:t>
            </a:r>
            <a:r>
              <a:rPr lang="en-US" altLang="ja-JP" dirty="0"/>
              <a:t>)</a:t>
            </a:r>
            <a:r>
              <a:rPr kumimoji="1" lang="en-US" altLang="ja-JP" dirty="0"/>
              <a:t>=</a:t>
            </a:r>
            <a:r>
              <a:rPr kumimoji="1" lang="ja-JP" altLang="en-US" dirty="0"/>
              <a:t>残差の平均平方</a:t>
            </a:r>
            <a:endParaRPr kumimoji="1" lang="en-US" altLang="ja-JP" dirty="0"/>
          </a:p>
          <a:p>
            <a:r>
              <a:rPr kumimoji="1" lang="ja-JP" altLang="en-US" dirty="0"/>
              <a:t>になっている</a:t>
            </a:r>
          </a:p>
        </p:txBody>
      </p:sp>
    </p:spTree>
    <p:extLst>
      <p:ext uri="{BB962C8B-B14F-4D97-AF65-F5344CB8AC3E}">
        <p14:creationId xmlns:p14="http://schemas.microsoft.com/office/powerpoint/2010/main" val="4080195313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1430</TotalTime>
  <Words>556</Words>
  <Application>Microsoft Office PowerPoint</Application>
  <PresentationFormat>ワイド画面</PresentationFormat>
  <Paragraphs>140</Paragraphs>
  <Slides>23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</vt:i4>
      </vt:variant>
    </vt:vector>
  </HeadingPairs>
  <TitlesOfParts>
    <vt:vector size="28" baseType="lpstr">
      <vt:lpstr>游ゴシック</vt:lpstr>
      <vt:lpstr>Calibri</vt:lpstr>
      <vt:lpstr>Calibri Light</vt:lpstr>
      <vt:lpstr>Wingdings 2</vt:lpstr>
      <vt:lpstr>HDOfficeLightV0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相関0.0513</vt:lpstr>
      <vt:lpstr>相関0.200 </vt:lpstr>
      <vt:lpstr>相関0.441</vt:lpstr>
      <vt:lpstr>相関0.542</vt:lpstr>
      <vt:lpstr>相関0.712 </vt:lpstr>
      <vt:lpstr>相関0.905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秀則 藤野</dc:creator>
  <cp:lastModifiedBy>秀則 藤野</cp:lastModifiedBy>
  <cp:revision>29</cp:revision>
  <dcterms:created xsi:type="dcterms:W3CDTF">2024-05-30T09:13:24Z</dcterms:created>
  <dcterms:modified xsi:type="dcterms:W3CDTF">2025-01-06T23:45:56Z</dcterms:modified>
</cp:coreProperties>
</file>